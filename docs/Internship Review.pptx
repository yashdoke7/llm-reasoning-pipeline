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3" r:id="rId1"/>
  </p:sldMasterIdLst>
  <p:notesMasterIdLst>
    <p:notesMasterId r:id="rId22"/>
  </p:notesMasterIdLst>
  <p:sldIdLst>
    <p:sldId id="256" r:id="rId2"/>
    <p:sldId id="257" r:id="rId3"/>
    <p:sldId id="273" r:id="rId4"/>
    <p:sldId id="258" r:id="rId5"/>
    <p:sldId id="262" r:id="rId6"/>
    <p:sldId id="260" r:id="rId7"/>
    <p:sldId id="263" r:id="rId8"/>
    <p:sldId id="275" r:id="rId9"/>
    <p:sldId id="264" r:id="rId10"/>
    <p:sldId id="276" r:id="rId11"/>
    <p:sldId id="278" r:id="rId12"/>
    <p:sldId id="268" r:id="rId13"/>
    <p:sldId id="279" r:id="rId14"/>
    <p:sldId id="282" r:id="rId15"/>
    <p:sldId id="283" r:id="rId16"/>
    <p:sldId id="267" r:id="rId17"/>
    <p:sldId id="269" r:id="rId18"/>
    <p:sldId id="280" r:id="rId19"/>
    <p:sldId id="281" r:id="rId20"/>
    <p:sldId id="270" r:id="rId21"/>
  </p:sldIdLst>
  <p:sldSz cx="4610100" cy="3460750"/>
  <p:notesSz cx="4610100" cy="3460750"/>
  <p:embeddedFontLst>
    <p:embeddedFont>
      <p:font typeface="Roboto" panose="02000000000000000000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74D2197-0E76-4BC1-8782-7AAC463DF250}">
  <a:tblStyle styleId="{D74D2197-0E76-4BC1-8782-7AAC463DF25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18" autoAdjust="0"/>
    <p:restoredTop sz="94660"/>
  </p:normalViewPr>
  <p:slideViewPr>
    <p:cSldViewPr snapToGrid="0">
      <p:cViewPr varScale="1">
        <p:scale>
          <a:sx n="215" d="100"/>
          <a:sy n="215" d="100"/>
        </p:scale>
        <p:origin x="1264" y="104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768500" y="259550"/>
            <a:ext cx="3073550" cy="12977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42176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46594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0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89456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0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623817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3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3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93764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2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4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4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35899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4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89414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5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"/>
          <p:cNvSpPr txBox="1">
            <a:spLocks noGrp="1"/>
          </p:cNvSpPr>
          <p:nvPr>
            <p:ph type="body" idx="1"/>
          </p:nvPr>
        </p:nvSpPr>
        <p:spPr>
          <a:xfrm>
            <a:off x="402932" y="654391"/>
            <a:ext cx="4079240" cy="2236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"/>
          <p:cNvSpPr txBox="1">
            <a:spLocks noGrp="1"/>
          </p:cNvSpPr>
          <p:nvPr>
            <p:ph type="dt" idx="10"/>
          </p:nvPr>
        </p:nvSpPr>
        <p:spPr>
          <a:xfrm>
            <a:off x="3432695" y="3331252"/>
            <a:ext cx="599439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38100" lvl="1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38100" lvl="2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38100" lvl="3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8100" lvl="4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8100" lvl="5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8100" lvl="6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8100" lvl="7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100" lvl="8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dt" idx="10"/>
          </p:nvPr>
        </p:nvSpPr>
        <p:spPr>
          <a:xfrm>
            <a:off x="3432695" y="3331252"/>
            <a:ext cx="599439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38100" lvl="1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38100" lvl="2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38100" lvl="3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8100" lvl="4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8100" lvl="5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8100" lvl="6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8100" lvl="7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100" lvl="8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subTitle" idx="1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dt" idx="10"/>
          </p:nvPr>
        </p:nvSpPr>
        <p:spPr>
          <a:xfrm>
            <a:off x="3432695" y="3331252"/>
            <a:ext cx="599439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38100" lvl="1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38100" lvl="2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38100" lvl="3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8100" lvl="4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8100" lvl="5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8100" lvl="6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8100" lvl="7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100" lvl="8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body" idx="1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body" idx="2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5"/>
          <p:cNvSpPr txBox="1">
            <a:spLocks noGrp="1"/>
          </p:cNvSpPr>
          <p:nvPr>
            <p:ph type="dt" idx="10"/>
          </p:nvPr>
        </p:nvSpPr>
        <p:spPr>
          <a:xfrm>
            <a:off x="3432695" y="3331252"/>
            <a:ext cx="599439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5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38100" lvl="1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38100" lvl="2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38100" lvl="3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8100" lvl="4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8100" lvl="5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8100" lvl="6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8100" lvl="7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100" lvl="8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6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dt" idx="10"/>
          </p:nvPr>
        </p:nvSpPr>
        <p:spPr>
          <a:xfrm>
            <a:off x="3432695" y="3331252"/>
            <a:ext cx="599439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38100" lvl="1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38100" lvl="2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38100" lvl="3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8100" lvl="4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8100" lvl="5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8100" lvl="6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8100" lvl="7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100" lvl="8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088361" y="3242195"/>
            <a:ext cx="43180" cy="30480"/>
          </a:xfrm>
          <a:custGeom>
            <a:avLst/>
            <a:gdLst/>
            <a:ahLst/>
            <a:cxnLst/>
            <a:rect l="l" t="t" r="r" b="b"/>
            <a:pathLst>
              <a:path w="43180" h="30479" extrusionOk="0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7" name="Google Shape;7;p1"/>
          <p:cNvSpPr/>
          <p:nvPr/>
        </p:nvSpPr>
        <p:spPr>
          <a:xfrm>
            <a:off x="3008744" y="3238232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 extrusionOk="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8" name="Google Shape;8;p1"/>
          <p:cNvSpPr/>
          <p:nvPr/>
        </p:nvSpPr>
        <p:spPr>
          <a:xfrm>
            <a:off x="3186546" y="3238232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 extrusionOk="0">
                <a:moveTo>
                  <a:pt x="0" y="0"/>
                </a:moveTo>
                <a:lnTo>
                  <a:pt x="0" y="38100"/>
                </a:lnTo>
                <a:lnTo>
                  <a:pt x="2540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9" name="Google Shape;9;p1"/>
          <p:cNvSpPr/>
          <p:nvPr/>
        </p:nvSpPr>
        <p:spPr>
          <a:xfrm>
            <a:off x="3339032" y="3231882"/>
            <a:ext cx="64135" cy="50800"/>
          </a:xfrm>
          <a:custGeom>
            <a:avLst/>
            <a:gdLst/>
            <a:ahLst/>
            <a:cxnLst/>
            <a:rect l="l" t="t" r="r" b="b"/>
            <a:pathLst>
              <a:path w="64135" h="50800" extrusionOk="0">
                <a:moveTo>
                  <a:pt x="0" y="50800"/>
                </a:moveTo>
                <a:lnTo>
                  <a:pt x="43019" y="50800"/>
                </a:lnTo>
                <a:lnTo>
                  <a:pt x="43019" y="20434"/>
                </a:lnTo>
                <a:lnTo>
                  <a:pt x="0" y="20434"/>
                </a:lnTo>
                <a:lnTo>
                  <a:pt x="0" y="50800"/>
                </a:lnTo>
                <a:close/>
              </a:path>
              <a:path w="64135" h="50800" extrusionOk="0">
                <a:moveTo>
                  <a:pt x="10491" y="20320"/>
                </a:moveTo>
                <a:lnTo>
                  <a:pt x="10491" y="10160"/>
                </a:lnTo>
                <a:lnTo>
                  <a:pt x="53672" y="10160"/>
                </a:lnTo>
                <a:lnTo>
                  <a:pt x="53672" y="40640"/>
                </a:lnTo>
                <a:lnTo>
                  <a:pt x="43512" y="40640"/>
                </a:lnTo>
              </a:path>
              <a:path w="64135" h="50800" extrusionOk="0">
                <a:moveTo>
                  <a:pt x="20652" y="10160"/>
                </a:moveTo>
                <a:lnTo>
                  <a:pt x="20652" y="0"/>
                </a:lnTo>
                <a:lnTo>
                  <a:pt x="63832" y="0"/>
                </a:lnTo>
                <a:lnTo>
                  <a:pt x="63832" y="30480"/>
                </a:lnTo>
                <a:lnTo>
                  <a:pt x="53672" y="30480"/>
                </a:lnTo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0" name="Google Shape;10;p1"/>
          <p:cNvSpPr/>
          <p:nvPr/>
        </p:nvSpPr>
        <p:spPr>
          <a:xfrm>
            <a:off x="3275863" y="3238233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 extrusionOk="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 extrusionOk="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1" name="Google Shape;11;p1"/>
          <p:cNvSpPr/>
          <p:nvPr/>
        </p:nvSpPr>
        <p:spPr>
          <a:xfrm>
            <a:off x="3631883" y="3244583"/>
            <a:ext cx="38100" cy="0"/>
          </a:xfrm>
          <a:custGeom>
            <a:avLst/>
            <a:gdLst/>
            <a:ahLst/>
            <a:cxnLst/>
            <a:rect l="l" t="t" r="r" b="b"/>
            <a:pathLst>
              <a:path w="38100" h="120000" extrusionOk="0">
                <a:moveTo>
                  <a:pt x="0" y="0"/>
                </a:moveTo>
                <a:lnTo>
                  <a:pt x="38100" y="0"/>
                </a:lnTo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2" name="Google Shape;12;p1"/>
          <p:cNvSpPr/>
          <p:nvPr/>
        </p:nvSpPr>
        <p:spPr>
          <a:xfrm>
            <a:off x="3542982" y="3238233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 extrusionOk="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 extrusionOk="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3" name="Google Shape;13;p1"/>
          <p:cNvSpPr/>
          <p:nvPr/>
        </p:nvSpPr>
        <p:spPr>
          <a:xfrm>
            <a:off x="3619183" y="3231882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 extrusionOk="0">
                <a:moveTo>
                  <a:pt x="0" y="0"/>
                </a:moveTo>
                <a:lnTo>
                  <a:pt x="38100" y="0"/>
                </a:lnTo>
              </a:path>
              <a:path w="50800" h="50800" extrusionOk="0">
                <a:moveTo>
                  <a:pt x="12700" y="25400"/>
                </a:moveTo>
                <a:lnTo>
                  <a:pt x="50800" y="25400"/>
                </a:lnTo>
              </a:path>
              <a:path w="50800" h="50800" extrusionOk="0">
                <a:moveTo>
                  <a:pt x="0" y="38100"/>
                </a:moveTo>
                <a:lnTo>
                  <a:pt x="38100" y="38100"/>
                </a:lnTo>
              </a:path>
              <a:path w="50800" h="50800" extrusionOk="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noFill/>
          <a:ln w="9525" cap="flat" cmpd="sng">
            <a:solidFill>
              <a:srgbClr val="D6D6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4" name="Google Shape;14;p1"/>
          <p:cNvSpPr/>
          <p:nvPr/>
        </p:nvSpPr>
        <p:spPr>
          <a:xfrm>
            <a:off x="3886302" y="3231882"/>
            <a:ext cx="50800" cy="25400"/>
          </a:xfrm>
          <a:custGeom>
            <a:avLst/>
            <a:gdLst/>
            <a:ahLst/>
            <a:cxnLst/>
            <a:rect l="l" t="t" r="r" b="b"/>
            <a:pathLst>
              <a:path w="50800" h="25400" extrusionOk="0">
                <a:moveTo>
                  <a:pt x="0" y="0"/>
                </a:moveTo>
                <a:lnTo>
                  <a:pt x="38100" y="0"/>
                </a:lnTo>
              </a:path>
              <a:path w="50800" h="25400" extrusionOk="0">
                <a:moveTo>
                  <a:pt x="12700" y="12700"/>
                </a:moveTo>
                <a:lnTo>
                  <a:pt x="50800" y="12700"/>
                </a:lnTo>
              </a:path>
              <a:path w="50800" h="25400" extrusionOk="0">
                <a:moveTo>
                  <a:pt x="12700" y="25400"/>
                </a:moveTo>
                <a:lnTo>
                  <a:pt x="50800" y="25400"/>
                </a:lnTo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5" name="Google Shape;15;p1"/>
          <p:cNvSpPr/>
          <p:nvPr/>
        </p:nvSpPr>
        <p:spPr>
          <a:xfrm>
            <a:off x="3810101" y="3238233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 extrusionOk="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 extrusionOk="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6" name="Google Shape;16;p1"/>
          <p:cNvSpPr/>
          <p:nvPr/>
        </p:nvSpPr>
        <p:spPr>
          <a:xfrm>
            <a:off x="3886302" y="3269983"/>
            <a:ext cx="50800" cy="12700"/>
          </a:xfrm>
          <a:custGeom>
            <a:avLst/>
            <a:gdLst/>
            <a:ahLst/>
            <a:cxnLst/>
            <a:rect l="l" t="t" r="r" b="b"/>
            <a:pathLst>
              <a:path w="50800" h="12700" extrusionOk="0">
                <a:moveTo>
                  <a:pt x="0" y="0"/>
                </a:moveTo>
                <a:lnTo>
                  <a:pt x="38100" y="0"/>
                </a:lnTo>
              </a:path>
              <a:path w="50800" h="12700" extrusionOk="0">
                <a:moveTo>
                  <a:pt x="12700" y="12699"/>
                </a:moveTo>
                <a:lnTo>
                  <a:pt x="50800" y="12699"/>
                </a:lnTo>
              </a:path>
            </a:pathLst>
          </a:custGeom>
          <a:noFill/>
          <a:ln w="9525" cap="flat" cmpd="sng">
            <a:solidFill>
              <a:srgbClr val="D6D6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7" name="Google Shape;17;p1"/>
          <p:cNvSpPr/>
          <p:nvPr/>
        </p:nvSpPr>
        <p:spPr>
          <a:xfrm>
            <a:off x="4153434" y="3231882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 extrusionOk="0">
                <a:moveTo>
                  <a:pt x="0" y="0"/>
                </a:moveTo>
                <a:lnTo>
                  <a:pt x="38100" y="0"/>
                </a:lnTo>
              </a:path>
              <a:path w="50800" h="50800" extrusionOk="0">
                <a:moveTo>
                  <a:pt x="12700" y="12700"/>
                </a:moveTo>
                <a:lnTo>
                  <a:pt x="50800" y="12700"/>
                </a:lnTo>
              </a:path>
              <a:path w="50800" h="50800" extrusionOk="0">
                <a:moveTo>
                  <a:pt x="12700" y="25400"/>
                </a:moveTo>
                <a:lnTo>
                  <a:pt x="50800" y="25400"/>
                </a:lnTo>
              </a:path>
              <a:path w="50800" h="50800" extrusionOk="0">
                <a:moveTo>
                  <a:pt x="0" y="38100"/>
                </a:moveTo>
                <a:lnTo>
                  <a:pt x="38100" y="38100"/>
                </a:lnTo>
              </a:path>
              <a:path w="50800" h="50800" extrusionOk="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8" name="Google Shape;18;p1"/>
          <p:cNvSpPr/>
          <p:nvPr/>
        </p:nvSpPr>
        <p:spPr>
          <a:xfrm>
            <a:off x="4451033" y="3262363"/>
            <a:ext cx="20320" cy="20320"/>
          </a:xfrm>
          <a:custGeom>
            <a:avLst/>
            <a:gdLst/>
            <a:ahLst/>
            <a:cxnLst/>
            <a:rect l="l" t="t" r="r" b="b"/>
            <a:pathLst>
              <a:path w="20320" h="20320" extrusionOk="0">
                <a:moveTo>
                  <a:pt x="0" y="0"/>
                </a:moveTo>
                <a:lnTo>
                  <a:pt x="20320" y="20320"/>
                </a:lnTo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9" name="Google Shape;19;p1"/>
          <p:cNvSpPr/>
          <p:nvPr/>
        </p:nvSpPr>
        <p:spPr>
          <a:xfrm>
            <a:off x="4423969" y="3235868"/>
            <a:ext cx="30480" cy="30480"/>
          </a:xfrm>
          <a:custGeom>
            <a:avLst/>
            <a:gdLst/>
            <a:ahLst/>
            <a:cxnLst/>
            <a:rect l="l" t="t" r="r" b="b"/>
            <a:pathLst>
              <a:path w="30479" h="30479" extrusionOk="0">
                <a:moveTo>
                  <a:pt x="30366" y="15183"/>
                </a:moveTo>
                <a:lnTo>
                  <a:pt x="30366" y="6797"/>
                </a:lnTo>
                <a:lnTo>
                  <a:pt x="23568" y="0"/>
                </a:lnTo>
                <a:lnTo>
                  <a:pt x="15183" y="0"/>
                </a:lnTo>
                <a:lnTo>
                  <a:pt x="6797" y="0"/>
                </a:lnTo>
                <a:lnTo>
                  <a:pt x="0" y="6797"/>
                </a:lnTo>
                <a:lnTo>
                  <a:pt x="0" y="15183"/>
                </a:lnTo>
                <a:lnTo>
                  <a:pt x="0" y="23568"/>
                </a:lnTo>
                <a:lnTo>
                  <a:pt x="6797" y="30366"/>
                </a:lnTo>
                <a:lnTo>
                  <a:pt x="15183" y="30366"/>
                </a:lnTo>
                <a:lnTo>
                  <a:pt x="23568" y="30366"/>
                </a:lnTo>
                <a:lnTo>
                  <a:pt x="30366" y="23568"/>
                </a:lnTo>
                <a:lnTo>
                  <a:pt x="30366" y="15183"/>
                </a:lnTo>
                <a:close/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0" name="Google Shape;20;p1"/>
          <p:cNvSpPr/>
          <p:nvPr/>
        </p:nvSpPr>
        <p:spPr>
          <a:xfrm>
            <a:off x="4329112" y="3231882"/>
            <a:ext cx="233679" cy="50800"/>
          </a:xfrm>
          <a:custGeom>
            <a:avLst/>
            <a:gdLst/>
            <a:ahLst/>
            <a:cxnLst/>
            <a:rect l="l" t="t" r="r" b="b"/>
            <a:pathLst>
              <a:path w="233679" h="50800" extrusionOk="0">
                <a:moveTo>
                  <a:pt x="40640" y="50800"/>
                </a:moveTo>
                <a:lnTo>
                  <a:pt x="50400" y="48796"/>
                </a:lnTo>
                <a:lnTo>
                  <a:pt x="58488" y="43339"/>
                </a:lnTo>
                <a:lnTo>
                  <a:pt x="64002" y="35262"/>
                </a:lnTo>
                <a:lnTo>
                  <a:pt x="66040" y="25400"/>
                </a:lnTo>
                <a:lnTo>
                  <a:pt x="64036" y="15537"/>
                </a:lnTo>
                <a:lnTo>
                  <a:pt x="58579" y="7461"/>
                </a:lnTo>
                <a:lnTo>
                  <a:pt x="50502" y="2004"/>
                </a:lnTo>
                <a:lnTo>
                  <a:pt x="40640" y="0"/>
                </a:lnTo>
                <a:lnTo>
                  <a:pt x="30778" y="2004"/>
                </a:lnTo>
                <a:lnTo>
                  <a:pt x="22701" y="7461"/>
                </a:lnTo>
                <a:lnTo>
                  <a:pt x="17244" y="15537"/>
                </a:lnTo>
                <a:lnTo>
                  <a:pt x="15240" y="25400"/>
                </a:lnTo>
              </a:path>
              <a:path w="233679" h="50800" extrusionOk="0">
                <a:moveTo>
                  <a:pt x="30480" y="17780"/>
                </a:moveTo>
                <a:lnTo>
                  <a:pt x="15240" y="30480"/>
                </a:lnTo>
                <a:lnTo>
                  <a:pt x="0" y="17780"/>
                </a:lnTo>
              </a:path>
              <a:path w="233679" h="50800" extrusionOk="0">
                <a:moveTo>
                  <a:pt x="193042" y="50800"/>
                </a:moveTo>
                <a:lnTo>
                  <a:pt x="183179" y="48796"/>
                </a:lnTo>
                <a:lnTo>
                  <a:pt x="175103" y="43339"/>
                </a:lnTo>
                <a:lnTo>
                  <a:pt x="169646" y="35262"/>
                </a:lnTo>
                <a:lnTo>
                  <a:pt x="167642" y="25400"/>
                </a:lnTo>
                <a:lnTo>
                  <a:pt x="169646" y="15537"/>
                </a:lnTo>
                <a:lnTo>
                  <a:pt x="175103" y="7461"/>
                </a:lnTo>
                <a:lnTo>
                  <a:pt x="183179" y="2004"/>
                </a:lnTo>
                <a:lnTo>
                  <a:pt x="193042" y="0"/>
                </a:lnTo>
                <a:lnTo>
                  <a:pt x="202904" y="2004"/>
                </a:lnTo>
                <a:lnTo>
                  <a:pt x="210981" y="7461"/>
                </a:lnTo>
                <a:lnTo>
                  <a:pt x="216438" y="15537"/>
                </a:lnTo>
                <a:lnTo>
                  <a:pt x="218442" y="25400"/>
                </a:lnTo>
              </a:path>
              <a:path w="233679" h="50800" extrusionOk="0">
                <a:moveTo>
                  <a:pt x="233682" y="17780"/>
                </a:moveTo>
                <a:lnTo>
                  <a:pt x="218442" y="30480"/>
                </a:lnTo>
                <a:lnTo>
                  <a:pt x="203202" y="17780"/>
                </a:lnTo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1" name="Google Shape;21;p1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" name="Google Shape;22;p1"/>
          <p:cNvSpPr txBox="1">
            <a:spLocks noGrp="1"/>
          </p:cNvSpPr>
          <p:nvPr>
            <p:ph type="body" idx="1"/>
          </p:nvPr>
        </p:nvSpPr>
        <p:spPr>
          <a:xfrm>
            <a:off x="402932" y="654391"/>
            <a:ext cx="4079240" cy="2236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1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" name="Google Shape;24;p1"/>
          <p:cNvSpPr txBox="1">
            <a:spLocks noGrp="1"/>
          </p:cNvSpPr>
          <p:nvPr>
            <p:ph type="dt" idx="10"/>
          </p:nvPr>
        </p:nvSpPr>
        <p:spPr>
          <a:xfrm>
            <a:off x="3432695" y="3331252"/>
            <a:ext cx="599439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1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38100" lvl="1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38100" lvl="2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38100" lvl="3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8100" lvl="4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8100" lvl="5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8100" lvl="6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8100" lvl="7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100" lvl="8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</a:t>
            </a:r>
            <a:endParaRPr sz="1400">
              <a:solidFill>
                <a:srgbClr val="00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7"/>
          <p:cNvGrpSpPr/>
          <p:nvPr/>
        </p:nvGrpSpPr>
        <p:grpSpPr>
          <a:xfrm>
            <a:off x="62118" y="236842"/>
            <a:ext cx="4483736" cy="502047"/>
            <a:chOff x="87743" y="236842"/>
            <a:chExt cx="4483736" cy="502047"/>
          </a:xfrm>
        </p:grpSpPr>
        <p:sp>
          <p:nvSpPr>
            <p:cNvPr id="59" name="Google Shape;59;p7"/>
            <p:cNvSpPr/>
            <p:nvPr/>
          </p:nvSpPr>
          <p:spPr>
            <a:xfrm>
              <a:off x="87743" y="236842"/>
              <a:ext cx="4432935" cy="82550"/>
            </a:xfrm>
            <a:custGeom>
              <a:avLst/>
              <a:gdLst/>
              <a:ahLst/>
              <a:cxnLst/>
              <a:rect l="l" t="t" r="r" b="b"/>
              <a:pathLst>
                <a:path w="4432935" h="82550" extrusionOk="0">
                  <a:moveTo>
                    <a:pt x="43817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32566" y="82384"/>
                  </a:lnTo>
                  <a:lnTo>
                    <a:pt x="4432566" y="50800"/>
                  </a:lnTo>
                  <a:lnTo>
                    <a:pt x="4428558" y="31075"/>
                  </a:lnTo>
                  <a:lnTo>
                    <a:pt x="4417643" y="14922"/>
                  </a:lnTo>
                  <a:lnTo>
                    <a:pt x="4401490" y="4008"/>
                  </a:lnTo>
                  <a:lnTo>
                    <a:pt x="4381765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0" name="Google Shape;60;p7"/>
            <p:cNvSpPr/>
            <p:nvPr/>
          </p:nvSpPr>
          <p:spPr>
            <a:xfrm>
              <a:off x="138544" y="300105"/>
              <a:ext cx="4432935" cy="438784"/>
            </a:xfrm>
            <a:custGeom>
              <a:avLst/>
              <a:gdLst/>
              <a:ahLst/>
              <a:cxnLst/>
              <a:rect l="l" t="t" r="r" b="b"/>
              <a:pathLst>
                <a:path w="4432935" h="438784" extrusionOk="0">
                  <a:moveTo>
                    <a:pt x="4432566" y="0"/>
                  </a:moveTo>
                  <a:lnTo>
                    <a:pt x="0" y="0"/>
                  </a:lnTo>
                  <a:lnTo>
                    <a:pt x="0" y="438781"/>
                  </a:lnTo>
                  <a:lnTo>
                    <a:pt x="4432566" y="438781"/>
                  </a:lnTo>
                  <a:lnTo>
                    <a:pt x="443256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1" name="Google Shape;61;p7"/>
            <p:cNvSpPr/>
            <p:nvPr/>
          </p:nvSpPr>
          <p:spPr>
            <a:xfrm>
              <a:off x="87743" y="281269"/>
              <a:ext cx="4432935" cy="407034"/>
            </a:xfrm>
            <a:custGeom>
              <a:avLst/>
              <a:gdLst/>
              <a:ahLst/>
              <a:cxnLst/>
              <a:rect l="l" t="t" r="r" b="b"/>
              <a:pathLst>
                <a:path w="4432935" h="407034" extrusionOk="0">
                  <a:moveTo>
                    <a:pt x="4432566" y="0"/>
                  </a:moveTo>
                  <a:lnTo>
                    <a:pt x="0" y="0"/>
                  </a:lnTo>
                  <a:lnTo>
                    <a:pt x="0" y="356017"/>
                  </a:lnTo>
                  <a:lnTo>
                    <a:pt x="4008" y="375741"/>
                  </a:lnTo>
                  <a:lnTo>
                    <a:pt x="14922" y="391894"/>
                  </a:lnTo>
                  <a:lnTo>
                    <a:pt x="31075" y="402808"/>
                  </a:lnTo>
                  <a:lnTo>
                    <a:pt x="50800" y="406817"/>
                  </a:lnTo>
                  <a:lnTo>
                    <a:pt x="4381765" y="406817"/>
                  </a:lnTo>
                  <a:lnTo>
                    <a:pt x="4401490" y="402808"/>
                  </a:lnTo>
                  <a:lnTo>
                    <a:pt x="4417643" y="391894"/>
                  </a:lnTo>
                  <a:lnTo>
                    <a:pt x="4428558" y="375741"/>
                  </a:lnTo>
                  <a:lnTo>
                    <a:pt x="4432566" y="356017"/>
                  </a:lnTo>
                  <a:lnTo>
                    <a:pt x="443256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49664" y="-74873"/>
            <a:ext cx="4432800" cy="788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1575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rPr lang="en-US" dirty="0"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LLM Reasoning Evaluation &amp; Targeted </a:t>
            </a:r>
            <a:br>
              <a:rPr lang="en-US" dirty="0"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</a:br>
            <a:r>
              <a:rPr lang="en-US" dirty="0"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Fine-Tuning Pipeline</a:t>
            </a:r>
            <a:endParaRPr dirty="0"/>
          </a:p>
        </p:txBody>
      </p:sp>
      <p:pic>
        <p:nvPicPr>
          <p:cNvPr id="64" name="Google Shape;64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12699" y="1823893"/>
            <a:ext cx="506730" cy="6477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7"/>
          <p:cNvSpPr txBox="1"/>
          <p:nvPr/>
        </p:nvSpPr>
        <p:spPr>
          <a:xfrm>
            <a:off x="1448399" y="2515867"/>
            <a:ext cx="1770473" cy="659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marR="5080" lvl="0">
              <a:lnSpc>
                <a:spcPct val="118750"/>
              </a:lnSpc>
            </a:pPr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Department of Computer Engineering</a:t>
            </a:r>
          </a:p>
          <a:p>
            <a:pPr marL="12700" marR="508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PES Modern College of Engineering </a:t>
            </a:r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Savitribai Phule Pune University</a:t>
            </a:r>
            <a:endParaRPr sz="8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3810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sz="12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66" name="Google Shape;66;p7"/>
          <p:cNvGrpSpPr/>
          <p:nvPr/>
        </p:nvGrpSpPr>
        <p:grpSpPr>
          <a:xfrm>
            <a:off x="-11362" y="3330146"/>
            <a:ext cx="4608017" cy="129539"/>
            <a:chOff x="0" y="3326968"/>
            <a:chExt cx="4608017" cy="129539"/>
          </a:xfrm>
        </p:grpSpPr>
        <p:sp>
          <p:nvSpPr>
            <p:cNvPr id="67" name="Google Shape;67;p7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8" name="Google Shape;68;p7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9" name="Google Shape;69;p7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70" name="Google Shape;70;p7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Google Shape;72;p7"/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Google Shape;73;p7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object 7">
            <a:extLst>
              <a:ext uri="{FF2B5EF4-FFF2-40B4-BE49-F238E27FC236}">
                <a16:creationId xmlns:a16="http://schemas.microsoft.com/office/drawing/2014/main" id="{0B054412-D6C8-4EDB-AF30-1060FB441BC7}"/>
              </a:ext>
            </a:extLst>
          </p:cNvPr>
          <p:cNvSpPr txBox="1"/>
          <p:nvPr/>
        </p:nvSpPr>
        <p:spPr>
          <a:xfrm>
            <a:off x="-11362" y="834532"/>
            <a:ext cx="4608017" cy="9274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Times New Roman"/>
                <a:cs typeface="Times New Roman"/>
              </a:rPr>
              <a:t>“</a:t>
            </a:r>
            <a:r>
              <a:rPr lang="en-US" sz="1000" dirty="0">
                <a:latin typeface="Times New Roman"/>
                <a:cs typeface="Times New Roman"/>
              </a:rPr>
              <a:t>AI/ML Virtual Internship</a:t>
            </a:r>
            <a:r>
              <a:rPr sz="1000" dirty="0">
                <a:latin typeface="Times New Roman"/>
                <a:cs typeface="Times New Roman"/>
              </a:rPr>
              <a:t>”</a:t>
            </a:r>
            <a:r>
              <a:rPr sz="1000" spc="-30" dirty="0">
                <a:latin typeface="Times New Roman"/>
                <a:cs typeface="Times New Roman"/>
              </a:rPr>
              <a:t> </a:t>
            </a:r>
            <a:r>
              <a:rPr sz="1000" dirty="0">
                <a:latin typeface="Times New Roman"/>
                <a:cs typeface="Times New Roman"/>
              </a:rPr>
              <a:t>at</a:t>
            </a:r>
            <a:r>
              <a:rPr sz="1000" spc="185" dirty="0">
                <a:latin typeface="Times New Roman"/>
                <a:cs typeface="Times New Roman"/>
              </a:rPr>
              <a:t> </a:t>
            </a:r>
            <a:r>
              <a:rPr sz="1000" dirty="0">
                <a:latin typeface="Times New Roman"/>
                <a:cs typeface="Times New Roman"/>
              </a:rPr>
              <a:t>“</a:t>
            </a:r>
            <a:r>
              <a:rPr lang="en-US" sz="1000" dirty="0">
                <a:latin typeface="Times New Roman"/>
                <a:cs typeface="Times New Roman"/>
              </a:rPr>
              <a:t>AICTE-</a:t>
            </a:r>
            <a:r>
              <a:rPr lang="en-US" sz="1000" dirty="0" err="1">
                <a:latin typeface="Times New Roman"/>
                <a:cs typeface="Times New Roman"/>
              </a:rPr>
              <a:t>EduSkills</a:t>
            </a:r>
            <a:r>
              <a:rPr lang="en-US" sz="1000" dirty="0">
                <a:latin typeface="Times New Roman"/>
                <a:cs typeface="Times New Roman"/>
              </a:rPr>
              <a:t> Cohort-14</a:t>
            </a:r>
            <a:r>
              <a:rPr sz="1050" spc="-10" dirty="0">
                <a:latin typeface="Times New Roman"/>
                <a:cs typeface="Times New Roman"/>
              </a:rPr>
              <a:t>”</a:t>
            </a:r>
            <a:endParaRPr sz="1050" dirty="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  <a:spcBef>
                <a:spcPts val="840"/>
              </a:spcBef>
            </a:pPr>
            <a:r>
              <a:rPr lang="en-US" sz="1000" dirty="0">
                <a:latin typeface="Times New Roman"/>
                <a:cs typeface="Times New Roman"/>
              </a:rPr>
              <a:t>Submitted by , </a:t>
            </a:r>
            <a:endParaRPr sz="1000" dirty="0">
              <a:latin typeface="Times New Roman"/>
              <a:cs typeface="Times New Roman"/>
            </a:endParaRPr>
          </a:p>
          <a:p>
            <a:pPr marL="181610" algn="ctr">
              <a:lnSpc>
                <a:spcPct val="100000"/>
              </a:lnSpc>
            </a:pPr>
            <a:r>
              <a:rPr lang="en-US" sz="1100" dirty="0">
                <a:latin typeface="Times New Roman"/>
                <a:cs typeface="Times New Roman"/>
              </a:rPr>
              <a:t>Yash Kailas Doke [T400310722]</a:t>
            </a:r>
            <a:endParaRPr sz="1100" dirty="0">
              <a:latin typeface="Times New Roman"/>
              <a:cs typeface="Times New Roman"/>
            </a:endParaRPr>
          </a:p>
          <a:p>
            <a:pPr marL="1020444" marR="526415" indent="-355600" algn="ctr">
              <a:lnSpc>
                <a:spcPct val="103200"/>
              </a:lnSpc>
              <a:spcBef>
                <a:spcPts val="10"/>
              </a:spcBef>
            </a:pPr>
            <a:r>
              <a:rPr sz="900" dirty="0">
                <a:latin typeface="Times New Roman"/>
                <a:cs typeface="Times New Roman"/>
              </a:rPr>
              <a:t>Under</a:t>
            </a:r>
            <a:r>
              <a:rPr sz="900" spc="-25" dirty="0">
                <a:latin typeface="Times New Roman"/>
                <a:cs typeface="Times New Roman"/>
              </a:rPr>
              <a:t> </a:t>
            </a:r>
            <a:r>
              <a:rPr sz="900" dirty="0">
                <a:latin typeface="Times New Roman"/>
                <a:cs typeface="Times New Roman"/>
              </a:rPr>
              <a:t>the</a:t>
            </a:r>
            <a:r>
              <a:rPr sz="900" spc="-25" dirty="0">
                <a:latin typeface="Times New Roman"/>
                <a:cs typeface="Times New Roman"/>
              </a:rPr>
              <a:t> </a:t>
            </a:r>
            <a:r>
              <a:rPr sz="900" spc="-10" dirty="0">
                <a:latin typeface="Times New Roman"/>
                <a:cs typeface="Times New Roman"/>
              </a:rPr>
              <a:t>Guidance </a:t>
            </a:r>
            <a:r>
              <a:rPr sz="900" spc="-25" dirty="0">
                <a:latin typeface="Times New Roman"/>
                <a:cs typeface="Times New Roman"/>
              </a:rPr>
              <a:t>o</a:t>
            </a:r>
            <a:r>
              <a:rPr lang="en-US" sz="900" spc="-25" dirty="0">
                <a:latin typeface="Times New Roman"/>
                <a:cs typeface="Times New Roman"/>
              </a:rPr>
              <a:t>f</a:t>
            </a:r>
            <a:endParaRPr sz="900" dirty="0">
              <a:latin typeface="Times New Roman"/>
              <a:cs typeface="Times New Roman"/>
            </a:endParaRPr>
          </a:p>
          <a:p>
            <a:pPr marR="3175" algn="ctr">
              <a:spcBef>
                <a:spcPts val="25"/>
              </a:spcBef>
            </a:pPr>
            <a:r>
              <a:rPr lang="en-IN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Dr. B. D. </a:t>
            </a:r>
            <a:r>
              <a:rPr lang="en-IN" sz="1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Phulpagar</a:t>
            </a:r>
            <a:endParaRPr sz="1100" b="1" dirty="0">
              <a:latin typeface="Times New Roman"/>
              <a:cs typeface="Times New Roman"/>
            </a:endParaRPr>
          </a:p>
        </p:txBody>
      </p:sp>
      <p:sp>
        <p:nvSpPr>
          <p:cNvPr id="2" name="Google Shape;85;p8">
            <a:extLst>
              <a:ext uri="{FF2B5EF4-FFF2-40B4-BE49-F238E27FC236}">
                <a16:creationId xmlns:a16="http://schemas.microsoft.com/office/drawing/2014/main" id="{C5D2F868-375B-78B2-7347-A40CDC90B752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79" name="Google Shape;79;p8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0" name="Google Shape;80;p8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81" name="Google Shape;81;p8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1"/>
                  </a:lnTo>
                  <a:lnTo>
                    <a:pt x="1535976" y="12903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84" name="Google Shape;84;p8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8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Google Shape;88;p8"/>
          <p:cNvSpPr txBox="1"/>
          <p:nvPr/>
        </p:nvSpPr>
        <p:spPr>
          <a:xfrm>
            <a:off x="-107280" y="367510"/>
            <a:ext cx="4385400" cy="259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60045" indent="-147955">
              <a:spcBef>
                <a:spcPts val="100"/>
              </a:spcBef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Internship Completion Certificate</a:t>
            </a: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</a:t>
            </a:r>
            <a:r>
              <a:rPr lang="en-US" sz="12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Statement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r>
              <a:rPr lang="en-US" sz="12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Methodology/</a:t>
            </a:r>
            <a:r>
              <a:rPr lang="en-US" sz="12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</a:t>
            </a:r>
            <a:r>
              <a:rPr lang="en-US" sz="12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Weekly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  <a:r>
              <a:rPr lang="en-US" sz="12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Details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Acknowledgement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</a:t>
            </a:r>
            <a:r>
              <a:rPr lang="en-US" sz="12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en-US" sz="12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1200" u="sng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Google Shape;72;p7">
            <a:extLst>
              <a:ext uri="{FF2B5EF4-FFF2-40B4-BE49-F238E27FC236}">
                <a16:creationId xmlns:a16="http://schemas.microsoft.com/office/drawing/2014/main" id="{5F4E910E-267B-DCBE-1C67-8256B7AB4912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Google Shape;85;p8">
            <a:extLst>
              <a:ext uri="{FF2B5EF4-FFF2-40B4-BE49-F238E27FC236}">
                <a16:creationId xmlns:a16="http://schemas.microsoft.com/office/drawing/2014/main" id="{415793B7-A749-9FB9-3926-5218AE772DF5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-178" y="0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  <p:sp>
        <p:nvSpPr>
          <p:cNvPr id="79" name="Google Shape;79;p8"/>
          <p:cNvSpPr txBox="1">
            <a:spLocks noGrp="1"/>
          </p:cNvSpPr>
          <p:nvPr>
            <p:ph type="title"/>
          </p:nvPr>
        </p:nvSpPr>
        <p:spPr>
          <a:xfrm>
            <a:off x="148866" y="44604"/>
            <a:ext cx="4259645" cy="245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212090">
              <a:spcBef>
                <a:spcPts val="100"/>
              </a:spcBef>
              <a:tabLst>
                <a:tab pos="360045" algn="l"/>
              </a:tabLst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Internship Completion Certificate</a:t>
            </a:r>
          </a:p>
        </p:txBody>
      </p:sp>
      <p:grpSp>
        <p:nvGrpSpPr>
          <p:cNvPr id="80" name="Google Shape;80;p8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81" name="Google Shape;81;p8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1"/>
                  </a:lnTo>
                  <a:lnTo>
                    <a:pt x="1535976" y="12903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84" name="Google Shape;84;p8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5" name="Google Shape;85;p8"/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Google Shape;87;p8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Google Shape;88;p8"/>
          <p:cNvSpPr txBox="1"/>
          <p:nvPr/>
        </p:nvSpPr>
        <p:spPr>
          <a:xfrm>
            <a:off x="-110239" y="367510"/>
            <a:ext cx="4385400" cy="382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12090">
              <a:spcBef>
                <a:spcPts val="100"/>
              </a:spcBef>
              <a:tabLst>
                <a:tab pos="360045" algn="l"/>
              </a:tabLst>
            </a:pPr>
            <a:endParaRPr sz="1200" u="sng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991985-E70D-96D6-A2EE-26B66D38A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344" y="333810"/>
            <a:ext cx="2094688" cy="2980072"/>
          </a:xfrm>
          <a:prstGeom prst="rect">
            <a:avLst/>
          </a:prstGeom>
        </p:spPr>
      </p:pic>
      <p:sp>
        <p:nvSpPr>
          <p:cNvPr id="2" name="Google Shape;72;p7">
            <a:extLst>
              <a:ext uri="{FF2B5EF4-FFF2-40B4-BE49-F238E27FC236}">
                <a16:creationId xmlns:a16="http://schemas.microsoft.com/office/drawing/2014/main" id="{AA8A55EF-11FA-89B4-0627-FFCF9C61148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315803"/>
      </p:ext>
    </p:extLst>
  </p:cSld>
  <p:clrMapOvr>
    <a:masterClrMapping/>
  </p:clrMapOvr>
  <p:transition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94" name="Google Shape;94;p9"/>
          <p:cNvSpPr txBox="1"/>
          <p:nvPr/>
        </p:nvSpPr>
        <p:spPr>
          <a:xfrm>
            <a:off x="95300" y="45565"/>
            <a:ext cx="977900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Introduction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95" name="Google Shape;95;p9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96" name="Google Shape;96;p9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97" name="Google Shape;97;p9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98" name="Google Shape;98;p9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99" name="Google Shape;99;p9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2859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/>
            <a:endParaRPr lang="en-US" dirty="0"/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9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Google Shape;103;p9"/>
          <p:cNvSpPr txBox="1"/>
          <p:nvPr/>
        </p:nvSpPr>
        <p:spPr>
          <a:xfrm>
            <a:off x="119707" y="367510"/>
            <a:ext cx="4368600" cy="263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Reasoning Gap: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chatbots (Qwen, Llama) are fluent but frequently make “Invisible Errors” in logic.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Use-Case Needs: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Medical, Navigation or Technical chatbots require domain-specialized reasoning, not just generalized word prediction.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Fine-Tuning Matters: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General models are too large/expensive for local deployment; specialized small models (3B/7B) are the industrial preference for privacy and cost.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Solution: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two-phase “Diagnose-and-Fix” pipeline.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“Teacher-Student” Strategy: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14B model teaching a 3B model.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C5A2D7-7E17-C321-FB75-E631F6A9D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323" y="2374316"/>
            <a:ext cx="1497367" cy="816746"/>
          </a:xfrm>
          <a:prstGeom prst="rect">
            <a:avLst/>
          </a:prstGeom>
        </p:spPr>
      </p:pic>
      <p:sp>
        <p:nvSpPr>
          <p:cNvPr id="8" name="Google Shape;85;p8">
            <a:extLst>
              <a:ext uri="{FF2B5EF4-FFF2-40B4-BE49-F238E27FC236}">
                <a16:creationId xmlns:a16="http://schemas.microsoft.com/office/drawing/2014/main" id="{B445AC1F-8D42-9224-714E-741A4A81DCCA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Google Shape;72;p7">
            <a:extLst>
              <a:ext uri="{FF2B5EF4-FFF2-40B4-BE49-F238E27FC236}">
                <a16:creationId xmlns:a16="http://schemas.microsoft.com/office/drawing/2014/main" id="{AD0AEF20-4852-6A69-5088-EB2B0F643C4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3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58" name="Google Shape;158;p13"/>
          <p:cNvSpPr txBox="1"/>
          <p:nvPr/>
        </p:nvSpPr>
        <p:spPr>
          <a:xfrm>
            <a:off x="95300" y="45565"/>
            <a:ext cx="158178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Problem Statement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160" name="Google Shape;160;p13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161" name="Google Shape;161;p13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62" name="Google Shape;162;p13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63" name="Google Shape;163;p13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64" name="Google Shape;164;p13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13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Google Shape;168;p13"/>
          <p:cNvSpPr txBox="1"/>
          <p:nvPr/>
        </p:nvSpPr>
        <p:spPr>
          <a:xfrm>
            <a:off x="95300" y="453900"/>
            <a:ext cx="4268400" cy="27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Black-Box Scrutiny: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Benchmarks (GSM8K, MMLU) only check “Did the model get the right answer?” (Blind Scoring). Binary scoring hides logical drift and intermediate factual hallucinations.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Propagation: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Hidden failures in early steps cascade into wrong conclusions. A single faulty assumption in “Step 2” makes subsequent correct steps meaningless.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Feedback Deficiency: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Traditional broad-data fine-tuning doesn’t target specific skill gaps. Practitioners lack the diagnostics to repair individual logic (e.g., Arithmetic vs. Tool-use).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Goal: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Shift from measuring “what” the final answer is to analyzing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“where” the model failed.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85;p8">
            <a:extLst>
              <a:ext uri="{FF2B5EF4-FFF2-40B4-BE49-F238E27FC236}">
                <a16:creationId xmlns:a16="http://schemas.microsoft.com/office/drawing/2014/main" id="{B7831353-7E8E-99E4-701E-A3C2487D9181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Google Shape;72;p7">
            <a:extLst>
              <a:ext uri="{FF2B5EF4-FFF2-40B4-BE49-F238E27FC236}">
                <a16:creationId xmlns:a16="http://schemas.microsoft.com/office/drawing/2014/main" id="{E3D482A2-5A6D-BC9B-C710-11068FCFEBA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11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129" name="Google Shape;129;p11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30" name="Google Shape;130;p11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31" name="Google Shape;131;p11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32" name="Google Shape;132;p11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5" name="Google Shape;135;p11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Google Shape;142;p12">
            <a:extLst>
              <a:ext uri="{FF2B5EF4-FFF2-40B4-BE49-F238E27FC236}">
                <a16:creationId xmlns:a16="http://schemas.microsoft.com/office/drawing/2014/main" id="{E217DFC9-F218-466C-82E4-0050519FBCDE}"/>
              </a:ext>
            </a:extLst>
          </p:cNvPr>
          <p:cNvSpPr txBox="1"/>
          <p:nvPr/>
        </p:nvSpPr>
        <p:spPr>
          <a:xfrm>
            <a:off x="377016" y="406972"/>
            <a:ext cx="3983113" cy="2456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5225" rIns="0" bIns="0" anchor="t" anchorCtr="0">
            <a:spAutoFit/>
          </a:bodyPr>
          <a:lstStyle/>
          <a:p>
            <a:pPr lvl="0" algn="just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Scope: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Unified Vision: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Building a platform to verify and fix “logical drift” in localized LLMs.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Targeted Reasoning Categories: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Arithmetic (GSM8K), Causal Reasoning (CRASS), Tool-Use Planning, and Factual Consistency.</a:t>
            </a:r>
          </a:p>
          <a:p>
            <a:pPr lvl="0" algn="just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Objectives:</a:t>
            </a:r>
          </a:p>
          <a:p>
            <a:pPr marL="228600" lvl="0" indent="-228600" algn="just">
              <a:buFont typeface="+mj-lt"/>
              <a:buAutoNum type="alphaL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 a meta-evaluation pipeline to pinpoint reasoning failures.</a:t>
            </a:r>
          </a:p>
          <a:p>
            <a:pPr marL="228600" lvl="0" indent="-228600" algn="just">
              <a:buFont typeface="+mj-lt"/>
              <a:buAutoNum type="alphaL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diagnosis data to generate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Targeted Training Traces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28600" lvl="0" indent="-228600" algn="just">
              <a:buFont typeface="+mj-lt"/>
              <a:buAutoNum type="alphaL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LoRA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drastically reduce step-level failure rates.</a:t>
            </a:r>
          </a:p>
          <a:p>
            <a:pPr marL="228600" lvl="0" indent="-228600" algn="just">
              <a:buFont typeface="+mj-lt"/>
              <a:buAutoNum type="alphaL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FP16 precision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LoRA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teach a 3B parameter “Student” model the logic of a 14B “Teacher.”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CF0985-B4BB-41A5-82A0-793367C31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984" y="531763"/>
            <a:ext cx="79255" cy="7925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CA3E1F-13A2-0DA0-494D-208D7D4215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984" y="1635182"/>
            <a:ext cx="79255" cy="79255"/>
          </a:xfrm>
          <a:prstGeom prst="rect">
            <a:avLst/>
          </a:prstGeom>
        </p:spPr>
      </p:pic>
      <p:sp>
        <p:nvSpPr>
          <p:cNvPr id="4" name="Google Shape;157;p13">
            <a:extLst>
              <a:ext uri="{FF2B5EF4-FFF2-40B4-BE49-F238E27FC236}">
                <a16:creationId xmlns:a16="http://schemas.microsoft.com/office/drawing/2014/main" id="{B1A3F0B3-2A9D-A05B-0C5C-9EA6031A8751}"/>
              </a:ext>
            </a:extLst>
          </p:cNvPr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5" name="Google Shape;158;p13">
            <a:extLst>
              <a:ext uri="{FF2B5EF4-FFF2-40B4-BE49-F238E27FC236}">
                <a16:creationId xmlns:a16="http://schemas.microsoft.com/office/drawing/2014/main" id="{EBDC60C2-1131-965E-389B-DA9B39D2BDC2}"/>
              </a:ext>
            </a:extLst>
          </p:cNvPr>
          <p:cNvSpPr txBox="1"/>
          <p:nvPr/>
        </p:nvSpPr>
        <p:spPr>
          <a:xfrm>
            <a:off x="95300" y="45565"/>
            <a:ext cx="158178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Scope &amp; Objectives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7" name="Google Shape;85;p8">
            <a:extLst>
              <a:ext uri="{FF2B5EF4-FFF2-40B4-BE49-F238E27FC236}">
                <a16:creationId xmlns:a16="http://schemas.microsoft.com/office/drawing/2014/main" id="{D8AEC598-7DD2-F563-E113-D77DE4D114D8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Google Shape;72;p7">
            <a:extLst>
              <a:ext uri="{FF2B5EF4-FFF2-40B4-BE49-F238E27FC236}">
                <a16:creationId xmlns:a16="http://schemas.microsoft.com/office/drawing/2014/main" id="{A3D059A9-FB97-2C4B-D540-E0133673D89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4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75" name="Google Shape;175;p14"/>
          <p:cNvSpPr txBox="1"/>
          <p:nvPr/>
        </p:nvSpPr>
        <p:spPr>
          <a:xfrm>
            <a:off x="95300" y="45565"/>
            <a:ext cx="1771650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177" name="Google Shape;177;p14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178" name="Google Shape;178;p14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79" name="Google Shape;179;p14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80" name="Google Shape;180;p14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81" name="Google Shape;181;p14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4" name="Google Shape;184;p14"/>
          <p:cNvSpPr txBox="1">
            <a:spLocks noGrp="1"/>
          </p:cNvSpPr>
          <p:nvPr>
            <p:ph type="sldNum" idx="12"/>
          </p:nvPr>
        </p:nvSpPr>
        <p:spPr>
          <a:xfrm>
            <a:off x="4275160" y="3331252"/>
            <a:ext cx="332767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FE18BE-C7A2-4717-9595-484F3E2FAA43}"/>
              </a:ext>
            </a:extLst>
          </p:cNvPr>
          <p:cNvSpPr/>
          <p:nvPr/>
        </p:nvSpPr>
        <p:spPr>
          <a:xfrm>
            <a:off x="141672" y="429504"/>
            <a:ext cx="4284976" cy="2369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 1 — Diagnose (The Teacher):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Decomposer: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Breaks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CoT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into atomic, numbered logical steps.</a:t>
            </a: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Evaluator (Teacher):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High-parameter model (14B) scores every step.</a:t>
            </a: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Divergence Logic: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Identifying where logic drifts using Ground-Truth Backtracking.</a:t>
            </a:r>
          </a:p>
          <a:p>
            <a:pPr lvl="0" algn="just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 2 — Fix (The Learning Loop):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Builder: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Failure reports are converted into expert-corrected training traces.</a:t>
            </a: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Fine-Tuning Engine: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LoRA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-based targeted weight updates with FP16 high-precision.</a:t>
            </a:r>
          </a:p>
        </p:txBody>
      </p:sp>
      <p:sp>
        <p:nvSpPr>
          <p:cNvPr id="3" name="Google Shape;85;p8">
            <a:extLst>
              <a:ext uri="{FF2B5EF4-FFF2-40B4-BE49-F238E27FC236}">
                <a16:creationId xmlns:a16="http://schemas.microsoft.com/office/drawing/2014/main" id="{06C10338-B991-8B65-33A2-BEA09B172EA9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72;p7">
            <a:extLst>
              <a:ext uri="{FF2B5EF4-FFF2-40B4-BE49-F238E27FC236}">
                <a16:creationId xmlns:a16="http://schemas.microsoft.com/office/drawing/2014/main" id="{26CF9C5A-BB28-0C96-6125-FBFF876F03EF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4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75" name="Google Shape;175;p14"/>
          <p:cNvSpPr txBox="1"/>
          <p:nvPr/>
        </p:nvSpPr>
        <p:spPr>
          <a:xfrm>
            <a:off x="95300" y="45565"/>
            <a:ext cx="1771650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177" name="Google Shape;177;p14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178" name="Google Shape;178;p14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79" name="Google Shape;179;p14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80" name="Google Shape;180;p14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81" name="Google Shape;181;p14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4" name="Google Shape;184;p14"/>
          <p:cNvSpPr txBox="1">
            <a:spLocks noGrp="1"/>
          </p:cNvSpPr>
          <p:nvPr>
            <p:ph type="sldNum" idx="12"/>
          </p:nvPr>
        </p:nvSpPr>
        <p:spPr>
          <a:xfrm>
            <a:off x="4275160" y="3331252"/>
            <a:ext cx="332767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F257C6-2555-4CFF-AC56-99C5070D4734}"/>
              </a:ext>
            </a:extLst>
          </p:cNvPr>
          <p:cNvSpPr txBox="1"/>
          <p:nvPr/>
        </p:nvSpPr>
        <p:spPr>
          <a:xfrm>
            <a:off x="1330724" y="2913610"/>
            <a:ext cx="34824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1: Architecture Diagram</a:t>
            </a:r>
          </a:p>
        </p:txBody>
      </p:sp>
      <p:sp>
        <p:nvSpPr>
          <p:cNvPr id="4" name="Google Shape;85;p8">
            <a:extLst>
              <a:ext uri="{FF2B5EF4-FFF2-40B4-BE49-F238E27FC236}">
                <a16:creationId xmlns:a16="http://schemas.microsoft.com/office/drawing/2014/main" id="{68DD8F8F-AF3A-0712-A8A6-96A4B204E246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72;p7">
            <a:extLst>
              <a:ext uri="{FF2B5EF4-FFF2-40B4-BE49-F238E27FC236}">
                <a16:creationId xmlns:a16="http://schemas.microsoft.com/office/drawing/2014/main" id="{DE411B68-6E30-1CEA-C8AA-BB76173259F6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82E751E-AC5B-C1E2-D6C3-5EAF3C626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176" y="693941"/>
            <a:ext cx="3710866" cy="2072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75614"/>
      </p:ext>
    </p:extLst>
  </p:cSld>
  <p:clrMapOvr>
    <a:masterClrMapping/>
  </p:clrMapOvr>
  <p:transition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05" name="Google Shape;205;p15"/>
          <p:cNvSpPr txBox="1"/>
          <p:nvPr/>
        </p:nvSpPr>
        <p:spPr>
          <a:xfrm>
            <a:off x="95300" y="45565"/>
            <a:ext cx="2134200" cy="2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Methodology/Algorithm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206" name="Google Shape;206;p15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07" name="Google Shape;207;p15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08" name="Google Shape;208;p15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09" name="Google Shape;209;p15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10" name="Google Shape;210;p15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7FF3DD-1483-4314-B35F-BBD00392020D}"/>
              </a:ext>
            </a:extLst>
          </p:cNvPr>
          <p:cNvSpPr/>
          <p:nvPr/>
        </p:nvSpPr>
        <p:spPr>
          <a:xfrm>
            <a:off x="216705" y="671078"/>
            <a:ext cx="4108261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Diagnosis: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 dataset -&gt; Decomposition -&gt; LLM-as-Judge scoring.</a:t>
            </a: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Categorize failure type (Hallucination vs. Logic Drift).</a:t>
            </a:r>
          </a:p>
          <a:p>
            <a:pPr lvl="0" algn="just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Fine-Tuning: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weakest logical category from Phase 1.</a:t>
            </a: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high-quality “Correct Trace” training examples.</a:t>
            </a: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LoRA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Fine-Tuning with FP16 precision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(rank=16, 3 epochs).</a:t>
            </a: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Merge &amp; Quantize to GGUF for efficient local inference via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Ollama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" name="Google Shape;85;p8">
            <a:extLst>
              <a:ext uri="{FF2B5EF4-FFF2-40B4-BE49-F238E27FC236}">
                <a16:creationId xmlns:a16="http://schemas.microsoft.com/office/drawing/2014/main" id="{17612DC6-63FA-7BA9-0CAC-636CA1433B6A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Google Shape;72;p7">
            <a:extLst>
              <a:ext uri="{FF2B5EF4-FFF2-40B4-BE49-F238E27FC236}">
                <a16:creationId xmlns:a16="http://schemas.microsoft.com/office/drawing/2014/main" id="{42356933-E1B3-71E1-1300-BCFDE302C4CE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228;p16">
            <a:extLst>
              <a:ext uri="{FF2B5EF4-FFF2-40B4-BE49-F238E27FC236}">
                <a16:creationId xmlns:a16="http://schemas.microsoft.com/office/drawing/2014/main" id="{9BF55C77-214F-BF96-BDBE-181AB8B6354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9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6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20" name="Google Shape;220;p16"/>
          <p:cNvSpPr txBox="1"/>
          <p:nvPr/>
        </p:nvSpPr>
        <p:spPr>
          <a:xfrm>
            <a:off x="95300" y="45565"/>
            <a:ext cx="2113800" cy="2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Te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chnologies Used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221" name="Google Shape;221;p16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22" name="Google Shape;222;p16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3" name="Google Shape;223;p16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4" name="Google Shape;224;p16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25" name="Google Shape;225;p16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8" name="Google Shape;228;p16"/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9" name="Google Shape;229;p16"/>
          <p:cNvSpPr txBox="1"/>
          <p:nvPr/>
        </p:nvSpPr>
        <p:spPr>
          <a:xfrm>
            <a:off x="-2083" y="434850"/>
            <a:ext cx="4610100" cy="326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B2ACBD-3F31-4CD1-92C4-1245148F48E0}"/>
              </a:ext>
            </a:extLst>
          </p:cNvPr>
          <p:cNvSpPr txBox="1"/>
          <p:nvPr/>
        </p:nvSpPr>
        <p:spPr>
          <a:xfrm>
            <a:off x="214583" y="659020"/>
            <a:ext cx="398903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Inference Platforms: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Ollama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(Local) &amp;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Groq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API (Cloud).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Fine-Tuning Framework: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HuggingFace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PEFT, TRL, &amp; FP16 precision.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Quantization: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llama.cpp (GGUF format).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LLM-as-a-Judge with JSON metadata output.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Grounding Engine: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LangChain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Wikipedia API for RAG-based diagnostics.</a:t>
            </a:r>
          </a:p>
        </p:txBody>
      </p:sp>
      <p:sp>
        <p:nvSpPr>
          <p:cNvPr id="3" name="Google Shape;85;p8">
            <a:extLst>
              <a:ext uri="{FF2B5EF4-FFF2-40B4-BE49-F238E27FC236}">
                <a16:creationId xmlns:a16="http://schemas.microsoft.com/office/drawing/2014/main" id="{9FE71D1B-C9AD-5595-D1EC-E19ADCD5F92B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72;p7">
            <a:extLst>
              <a:ext uri="{FF2B5EF4-FFF2-40B4-BE49-F238E27FC236}">
                <a16:creationId xmlns:a16="http://schemas.microsoft.com/office/drawing/2014/main" id="{5A6ED769-195D-C312-3E4B-8F39365F28E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624886"/>
      </p:ext>
    </p:extLst>
  </p:cSld>
  <p:clrMapOvr>
    <a:masterClrMapping/>
  </p:clrMapOvr>
  <p:transition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6"/>
          <p:cNvSpPr/>
          <p:nvPr/>
        </p:nvSpPr>
        <p:spPr>
          <a:xfrm>
            <a:off x="2083" y="0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20" name="Google Shape;220;p16"/>
          <p:cNvSpPr txBox="1"/>
          <p:nvPr/>
        </p:nvSpPr>
        <p:spPr>
          <a:xfrm>
            <a:off x="97383" y="45577"/>
            <a:ext cx="2113800" cy="2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Weekly Work Details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221" name="Google Shape;221;p16"/>
          <p:cNvGrpSpPr/>
          <p:nvPr/>
        </p:nvGrpSpPr>
        <p:grpSpPr>
          <a:xfrm>
            <a:off x="2083" y="3326980"/>
            <a:ext cx="4608017" cy="129539"/>
            <a:chOff x="0" y="3326968"/>
            <a:chExt cx="4608017" cy="129539"/>
          </a:xfrm>
        </p:grpSpPr>
        <p:sp>
          <p:nvSpPr>
            <p:cNvPr id="222" name="Google Shape;222;p16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3" name="Google Shape;223;p16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4" name="Google Shape;224;p16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25" name="Google Shape;225;p16"/>
          <p:cNvSpPr txBox="1">
            <a:spLocks noGrp="1"/>
          </p:cNvSpPr>
          <p:nvPr>
            <p:ph type="ftr" idx="11"/>
          </p:nvPr>
        </p:nvSpPr>
        <p:spPr>
          <a:xfrm>
            <a:off x="424027" y="3331264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8" name="Google Shape;228;p16"/>
          <p:cNvSpPr txBox="1">
            <a:spLocks noGrp="1"/>
          </p:cNvSpPr>
          <p:nvPr>
            <p:ph type="sldNum" idx="12"/>
          </p:nvPr>
        </p:nvSpPr>
        <p:spPr>
          <a:xfrm>
            <a:off x="4277231" y="3331262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015FF4-CFBD-4DD4-8072-3F30A6F82744}"/>
              </a:ext>
            </a:extLst>
          </p:cNvPr>
          <p:cNvSpPr txBox="1"/>
          <p:nvPr/>
        </p:nvSpPr>
        <p:spPr>
          <a:xfrm>
            <a:off x="1278102" y="3026019"/>
            <a:ext cx="1884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1: Weekly Workflow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7D19BD6-E1AB-8C1C-82C8-F67412CE2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650350"/>
              </p:ext>
            </p:extLst>
          </p:nvPr>
        </p:nvGraphicFramePr>
        <p:xfrm>
          <a:off x="175540" y="367522"/>
          <a:ext cx="4293832" cy="2679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3142">
                  <a:extLst>
                    <a:ext uri="{9D8B030D-6E8A-4147-A177-3AD203B41FA5}">
                      <a16:colId xmlns:a16="http://schemas.microsoft.com/office/drawing/2014/main" val="2012636812"/>
                    </a:ext>
                  </a:extLst>
                </a:gridCol>
                <a:gridCol w="3390690">
                  <a:extLst>
                    <a:ext uri="{9D8B030D-6E8A-4147-A177-3AD203B41FA5}">
                      <a16:colId xmlns:a16="http://schemas.microsoft.com/office/drawing/2014/main" val="1540817259"/>
                    </a:ext>
                  </a:extLst>
                </a:gridCol>
              </a:tblGrid>
              <a:tr h="360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</a:t>
                      </a:r>
                    </a:p>
                  </a:txBody>
                  <a:tcPr marL="38100" marR="38100" marT="25400" marB="254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Work Done</a:t>
                      </a:r>
                    </a:p>
                  </a:txBody>
                  <a:tcPr marL="38100" marR="38100" marT="25400" marB="25400" anchor="ctr"/>
                </a:tc>
                <a:extLst>
                  <a:ext uri="{0D108BD9-81ED-4DB2-BD59-A6C34878D82A}">
                    <a16:rowId xmlns:a16="http://schemas.microsoft.com/office/drawing/2014/main" val="2954996267"/>
                  </a:ext>
                </a:extLst>
              </a:tr>
              <a:tr h="463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1</a:t>
                      </a:r>
                    </a:p>
                  </a:txBody>
                  <a:tcPr marL="38100" marR="38100" marT="25400" marB="254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Literature review, dataset loaders, and repository setup.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8100" marR="38100" marT="25400" marB="25400" anchor="ctr"/>
                </a:tc>
                <a:extLst>
                  <a:ext uri="{0D108BD9-81ED-4DB2-BD59-A6C34878D82A}">
                    <a16:rowId xmlns:a16="http://schemas.microsoft.com/office/drawing/2014/main" val="1122244805"/>
                  </a:ext>
                </a:extLst>
              </a:tr>
              <a:tr h="463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2</a:t>
                      </a:r>
                    </a:p>
                  </a:txBody>
                  <a:tcPr marL="38100" marR="38100" marT="25400" marB="25400" anchor="ctr"/>
                </a:tc>
                <a:tc>
                  <a:txBody>
                    <a:bodyPr/>
                    <a:lstStyle/>
                    <a:p>
                      <a:pPr lvl="0"/>
                      <a:r>
                        <a:rPr lang="en-US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Diagnostic engine implementation (Step Evaluator &amp; Hallucination Scorer).</a:t>
                      </a:r>
                    </a:p>
                  </a:txBody>
                  <a:tcPr marL="38100" marR="38100" marT="25400" marB="25400" anchor="ctr"/>
                </a:tc>
                <a:extLst>
                  <a:ext uri="{0D108BD9-81ED-4DB2-BD59-A6C34878D82A}">
                    <a16:rowId xmlns:a16="http://schemas.microsoft.com/office/drawing/2014/main" val="851091709"/>
                  </a:ext>
                </a:extLst>
              </a:tr>
              <a:tr h="463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3</a:t>
                      </a:r>
                    </a:p>
                  </a:txBody>
                  <a:tcPr marL="38100" marR="38100" marT="25400" marB="254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Phase 1 Benchmarking &amp; RAG implementation.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8100" marR="38100" marT="25400" marB="25400" anchor="ctr"/>
                </a:tc>
                <a:extLst>
                  <a:ext uri="{0D108BD9-81ED-4DB2-BD59-A6C34878D82A}">
                    <a16:rowId xmlns:a16="http://schemas.microsoft.com/office/drawing/2014/main" val="3900487757"/>
                  </a:ext>
                </a:extLst>
              </a:tr>
              <a:tr h="463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4</a:t>
                      </a:r>
                    </a:p>
                  </a:txBody>
                  <a:tcPr marL="38100" marR="38100" marT="25400" marB="254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Failure-targeted dataset generation &amp; FP16 Fine-Tuning.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8100" marR="38100" marT="25400" marB="25400" anchor="ctr"/>
                </a:tc>
                <a:extLst>
                  <a:ext uri="{0D108BD9-81ED-4DB2-BD59-A6C34878D82A}">
                    <a16:rowId xmlns:a16="http://schemas.microsoft.com/office/drawing/2014/main" val="3420672805"/>
                  </a:ext>
                </a:extLst>
              </a:tr>
              <a:tr h="463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5</a:t>
                      </a:r>
                    </a:p>
                  </a:txBody>
                  <a:tcPr marL="38100" marR="38100" marT="25400" marB="254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GGUF export, re-evaluation, and final results visualization.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8100" marR="38100" marT="25400" marB="25400" anchor="ctr"/>
                </a:tc>
                <a:extLst>
                  <a:ext uri="{0D108BD9-81ED-4DB2-BD59-A6C34878D82A}">
                    <a16:rowId xmlns:a16="http://schemas.microsoft.com/office/drawing/2014/main" val="2018253211"/>
                  </a:ext>
                </a:extLst>
              </a:tr>
            </a:tbl>
          </a:graphicData>
        </a:graphic>
      </p:graphicFrame>
      <p:sp>
        <p:nvSpPr>
          <p:cNvPr id="2" name="Google Shape;85;p8">
            <a:extLst>
              <a:ext uri="{FF2B5EF4-FFF2-40B4-BE49-F238E27FC236}">
                <a16:creationId xmlns:a16="http://schemas.microsoft.com/office/drawing/2014/main" id="{1EFDB18E-1870-85C3-795D-EDF60A135F8A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72;p7">
            <a:extLst>
              <a:ext uri="{FF2B5EF4-FFF2-40B4-BE49-F238E27FC236}">
                <a16:creationId xmlns:a16="http://schemas.microsoft.com/office/drawing/2014/main" id="{20875B03-4E52-607B-D155-D81DE6FDBBDA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954368"/>
      </p:ext>
    </p:extLst>
  </p:cSld>
  <p:clrMapOvr>
    <a:masterClrMapping/>
  </p:clrMapOvr>
  <p:transition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9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  <p:sp>
        <p:nvSpPr>
          <p:cNvPr id="265" name="Google Shape;265;p19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7" name="Google Shape;267;p19"/>
          <p:cNvGrpSpPr/>
          <p:nvPr/>
        </p:nvGrpSpPr>
        <p:grpSpPr>
          <a:xfrm>
            <a:off x="-586" y="3327587"/>
            <a:ext cx="4608017" cy="129539"/>
            <a:chOff x="0" y="3326968"/>
            <a:chExt cx="4608017" cy="129539"/>
          </a:xfrm>
        </p:grpSpPr>
        <p:sp>
          <p:nvSpPr>
            <p:cNvPr id="268" name="Google Shape;268;p19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69" name="Google Shape;269;p19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70" name="Google Shape;270;p19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71" name="Google Shape;271;p19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74" name="Google Shape;274;p19"/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B5B857-BFE0-490A-8A7B-5E6E6347A397}"/>
              </a:ext>
            </a:extLst>
          </p:cNvPr>
          <p:cNvSpPr txBox="1"/>
          <p:nvPr/>
        </p:nvSpPr>
        <p:spPr>
          <a:xfrm>
            <a:off x="96638" y="2453081"/>
            <a:ext cx="21522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1: Accuracy Comparison per Category</a:t>
            </a:r>
          </a:p>
        </p:txBody>
      </p:sp>
      <p:sp>
        <p:nvSpPr>
          <p:cNvPr id="5" name="Google Shape;85;p8">
            <a:extLst>
              <a:ext uri="{FF2B5EF4-FFF2-40B4-BE49-F238E27FC236}">
                <a16:creationId xmlns:a16="http://schemas.microsoft.com/office/drawing/2014/main" id="{BAA5B102-E61B-7977-0021-273BAAF99676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Google Shape;72;p7">
            <a:extLst>
              <a:ext uri="{FF2B5EF4-FFF2-40B4-BE49-F238E27FC236}">
                <a16:creationId xmlns:a16="http://schemas.microsoft.com/office/drawing/2014/main" id="{DD0138CE-AF6D-BDD6-B320-DAA06C950A2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A2E51D-BDB4-94AE-3586-60FFEA9F4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77" y="664976"/>
            <a:ext cx="2270439" cy="17740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2DAE05-57CC-BC91-5401-3C35496B57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8839" y="677214"/>
            <a:ext cx="2305051" cy="177403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4CD207F-74C8-4EFC-86C2-297810B895E5}"/>
              </a:ext>
            </a:extLst>
          </p:cNvPr>
          <p:cNvSpPr txBox="1"/>
          <p:nvPr/>
        </p:nvSpPr>
        <p:spPr>
          <a:xfrm>
            <a:off x="2309368" y="2451249"/>
            <a:ext cx="21874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2: Overall Performance</a:t>
            </a:r>
          </a:p>
        </p:txBody>
      </p:sp>
    </p:spTree>
  </p:cSld>
  <p:clrMapOvr>
    <a:masterClrMapping/>
  </p:clrMapOvr>
  <p:transition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9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  <p:sp>
        <p:nvSpPr>
          <p:cNvPr id="265" name="Google Shape;265;p19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6" name="Google Shape;266;p19"/>
          <p:cNvSpPr txBox="1"/>
          <p:nvPr/>
        </p:nvSpPr>
        <p:spPr>
          <a:xfrm>
            <a:off x="61948" y="335617"/>
            <a:ext cx="4379700" cy="3014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267" name="Google Shape;267;p19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68" name="Google Shape;268;p19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69" name="Google Shape;269;p19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70" name="Google Shape;270;p19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71" name="Google Shape;271;p19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74" name="Google Shape;274;p19"/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85;p8">
            <a:extLst>
              <a:ext uri="{FF2B5EF4-FFF2-40B4-BE49-F238E27FC236}">
                <a16:creationId xmlns:a16="http://schemas.microsoft.com/office/drawing/2014/main" id="{E0843BDC-45ED-BB08-C84F-3F85B6C32489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Google Shape;72;p7">
            <a:extLst>
              <a:ext uri="{FF2B5EF4-FFF2-40B4-BE49-F238E27FC236}">
                <a16:creationId xmlns:a16="http://schemas.microsoft.com/office/drawing/2014/main" id="{1AAEC177-3343-2FA4-E21B-B5A3590CCA1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82335E-C7FB-08D0-B9DD-DA8E90E10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00" y="680621"/>
            <a:ext cx="2305998" cy="168867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695A19-736A-4465-1DCB-8F0BB4F16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6634" y="680621"/>
            <a:ext cx="2283466" cy="16886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71C18D-D0CD-C33E-DB5A-C803BC0F43B5}"/>
              </a:ext>
            </a:extLst>
          </p:cNvPr>
          <p:cNvSpPr txBox="1"/>
          <p:nvPr/>
        </p:nvSpPr>
        <p:spPr>
          <a:xfrm>
            <a:off x="172198" y="2412824"/>
            <a:ext cx="21522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3: Step Failure by Category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28421D-2C33-0F55-B721-006657D86E33}"/>
              </a:ext>
            </a:extLst>
          </p:cNvPr>
          <p:cNvSpPr txBox="1"/>
          <p:nvPr/>
        </p:nvSpPr>
        <p:spPr>
          <a:xfrm>
            <a:off x="2422606" y="2421501"/>
            <a:ext cx="21874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4: Error Propagation per Category</a:t>
            </a:r>
          </a:p>
        </p:txBody>
      </p:sp>
    </p:spTree>
    <p:extLst>
      <p:ext uri="{BB962C8B-B14F-4D97-AF65-F5344CB8AC3E}">
        <p14:creationId xmlns:p14="http://schemas.microsoft.com/office/powerpoint/2010/main" val="3972367921"/>
      </p:ext>
    </p:extLst>
  </p:cSld>
  <p:clrMapOvr>
    <a:masterClrMapping/>
  </p:clrMapOvr>
  <p:transition>
    <p:fade thruBlk="1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64;p19">
            <a:extLst>
              <a:ext uri="{FF2B5EF4-FFF2-40B4-BE49-F238E27FC236}">
                <a16:creationId xmlns:a16="http://schemas.microsoft.com/office/drawing/2014/main" id="{CE83E7D0-A92C-49DA-2D73-7BD70223767E}"/>
              </a:ext>
            </a:extLst>
          </p:cNvPr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  <p:sp>
        <p:nvSpPr>
          <p:cNvPr id="3" name="Google Shape;265;p19">
            <a:extLst>
              <a:ext uri="{FF2B5EF4-FFF2-40B4-BE49-F238E27FC236}">
                <a16:creationId xmlns:a16="http://schemas.microsoft.com/office/drawing/2014/main" id="{598E312C-5947-C10C-31B1-F5F3AE1CCA74}"/>
              </a:ext>
            </a:extLst>
          </p:cNvPr>
          <p:cNvSpPr txBox="1">
            <a:spLocks/>
          </p:cNvSpPr>
          <p:nvPr/>
        </p:nvSpPr>
        <p:spPr>
          <a:xfrm>
            <a:off x="95300" y="45565"/>
            <a:ext cx="4225166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"/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Case Study: Resolving Mathematical Logic</a:t>
            </a: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Goal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266;p19">
            <a:extLst>
              <a:ext uri="{FF2B5EF4-FFF2-40B4-BE49-F238E27FC236}">
                <a16:creationId xmlns:a16="http://schemas.microsoft.com/office/drawing/2014/main" id="{1A1DE024-E15B-A3AD-A834-46EED710B49B}"/>
              </a:ext>
            </a:extLst>
          </p:cNvPr>
          <p:cNvSpPr txBox="1"/>
          <p:nvPr/>
        </p:nvSpPr>
        <p:spPr>
          <a:xfrm>
            <a:off x="188759" y="389283"/>
            <a:ext cx="4379700" cy="3071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algn="just"/>
            <a:r>
              <a:rPr lang="en-US" sz="1200" dirty="0">
                <a:solidFill>
                  <a:schemeClr val="dk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the cost: $150 flat fee + $15/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5 hours of work</a:t>
            </a:r>
          </a:p>
          <a:p>
            <a:pPr algn="just"/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🔴 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Model (Failed due to Error Cascade):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1: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Records flat fee ($150) and hourly rate ($15).</a:t>
            </a:r>
          </a:p>
          <a:p>
            <a:pPr lvl="1" algn="just"/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2: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Adds them together first: $150 + 15 = 165$. 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[INVALID]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3: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Multiplies by 5: $165 \times 5 = 825$.</a:t>
            </a:r>
          </a:p>
          <a:p>
            <a:pPr lvl="1" algn="just"/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Diagnosis: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 target model violated mathematical order of operations, cascading into a drastically incorrect $825 answer.</a:t>
            </a:r>
          </a:p>
          <a:p>
            <a:pPr lvl="1" algn="just"/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🟢 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LoRA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Fine-Tuned Model (Success):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1: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Computes hourly total first: $15 \times 5 = 75$. 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[VALID]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2: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Adds flat fee: $150 + 75 = 225$. 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[VALID]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Diagnosis: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 Qwen-14B Judge confirmed the fine-tuned model successfully learned to isolate the multiplication step, yielding the correct $225 answer.</a:t>
            </a:r>
          </a:p>
          <a:p>
            <a:pPr marL="0" lvl="0" indent="0" algn="just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pSp>
        <p:nvGrpSpPr>
          <p:cNvPr id="5" name="Google Shape;267;p19">
            <a:extLst>
              <a:ext uri="{FF2B5EF4-FFF2-40B4-BE49-F238E27FC236}">
                <a16:creationId xmlns:a16="http://schemas.microsoft.com/office/drawing/2014/main" id="{943A7619-50AF-2B0D-BBE7-8E53F1E92AA7}"/>
              </a:ext>
            </a:extLst>
          </p:cNvPr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6" name="Google Shape;268;p19">
              <a:extLst>
                <a:ext uri="{FF2B5EF4-FFF2-40B4-BE49-F238E27FC236}">
                  <a16:creationId xmlns:a16="http://schemas.microsoft.com/office/drawing/2014/main" id="{9E64C9A6-6319-D0C0-0827-4971818F98A6}"/>
                </a:ext>
              </a:extLst>
            </p:cNvPr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7" name="Google Shape;269;p19">
              <a:extLst>
                <a:ext uri="{FF2B5EF4-FFF2-40B4-BE49-F238E27FC236}">
                  <a16:creationId xmlns:a16="http://schemas.microsoft.com/office/drawing/2014/main" id="{4D06B475-EFEB-24C6-FC57-43DC58CBC5B6}"/>
                </a:ext>
              </a:extLst>
            </p:cNvPr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8" name="Google Shape;270;p19">
              <a:extLst>
                <a:ext uri="{FF2B5EF4-FFF2-40B4-BE49-F238E27FC236}">
                  <a16:creationId xmlns:a16="http://schemas.microsoft.com/office/drawing/2014/main" id="{CE58373F-72B4-F038-ADB9-0A8EE2C2AFF1}"/>
                </a:ext>
              </a:extLst>
            </p:cNvPr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9" name="Google Shape;271;p19">
            <a:extLst>
              <a:ext uri="{FF2B5EF4-FFF2-40B4-BE49-F238E27FC236}">
                <a16:creationId xmlns:a16="http://schemas.microsoft.com/office/drawing/2014/main" id="{33569954-F8BE-E7FC-D2D0-FCD7EA51DE4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" name="Google Shape;274;p19">
            <a:extLst>
              <a:ext uri="{FF2B5EF4-FFF2-40B4-BE49-F238E27FC236}">
                <a16:creationId xmlns:a16="http://schemas.microsoft.com/office/drawing/2014/main" id="{6AD7FE13-2F04-E05B-3F54-55F1518FF35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Google Shape;85;p8">
            <a:extLst>
              <a:ext uri="{FF2B5EF4-FFF2-40B4-BE49-F238E27FC236}">
                <a16:creationId xmlns:a16="http://schemas.microsoft.com/office/drawing/2014/main" id="{13D1F1BC-F64A-F163-B6F1-EC1D01A68102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Google Shape;72;p7">
            <a:extLst>
              <a:ext uri="{FF2B5EF4-FFF2-40B4-BE49-F238E27FC236}">
                <a16:creationId xmlns:a16="http://schemas.microsoft.com/office/drawing/2014/main" id="{A3F7182E-0BAA-360C-E9C0-116D598FAFC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2479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64;p19">
            <a:extLst>
              <a:ext uri="{FF2B5EF4-FFF2-40B4-BE49-F238E27FC236}">
                <a16:creationId xmlns:a16="http://schemas.microsoft.com/office/drawing/2014/main" id="{94E692AB-780A-9B02-828E-3AE379B8DB34}"/>
              </a:ext>
            </a:extLst>
          </p:cNvPr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  <p:sp>
        <p:nvSpPr>
          <p:cNvPr id="3" name="Google Shape;265;p19">
            <a:extLst>
              <a:ext uri="{FF2B5EF4-FFF2-40B4-BE49-F238E27FC236}">
                <a16:creationId xmlns:a16="http://schemas.microsoft.com/office/drawing/2014/main" id="{A11F312C-28BE-1E45-C5A0-3366565E5DBE}"/>
              </a:ext>
            </a:extLst>
          </p:cNvPr>
          <p:cNvSpPr txBox="1">
            <a:spLocks/>
          </p:cNvSpPr>
          <p:nvPr/>
        </p:nvSpPr>
        <p:spPr>
          <a:xfrm>
            <a:off x="95300" y="45565"/>
            <a:ext cx="4225166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"/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Case Study: API Dependency Sequencing</a:t>
            </a: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Goal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266;p19">
            <a:extLst>
              <a:ext uri="{FF2B5EF4-FFF2-40B4-BE49-F238E27FC236}">
                <a16:creationId xmlns:a16="http://schemas.microsoft.com/office/drawing/2014/main" id="{B9952E7D-7664-F532-E392-A6CFC7EE77C6}"/>
              </a:ext>
            </a:extLst>
          </p:cNvPr>
          <p:cNvSpPr txBox="1"/>
          <p:nvPr/>
        </p:nvSpPr>
        <p:spPr>
          <a:xfrm>
            <a:off x="188759" y="445508"/>
            <a:ext cx="4229361" cy="2412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algn="just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 a workflow to summarize today's news about 'AI’.</a:t>
            </a:r>
          </a:p>
          <a:p>
            <a:pPr algn="just"/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🔴 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Model (Causal Failure):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1: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Call 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summarize_text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 to extract key points. 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[INVALID]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2: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Call 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search_news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("AI") to fetch articles.</a:t>
            </a:r>
          </a:p>
          <a:p>
            <a:pPr lvl="1" algn="just"/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Diagnosis: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Fundamental sequential hallucination. The model attempts to summarize news 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before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calling the API to retrieve it.</a:t>
            </a:r>
          </a:p>
          <a:p>
            <a:pPr lvl="1" algn="just"/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🟢 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LoRA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Fine-Tuned Model (Success):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1: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Call 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search_news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("AI") to retrieve articles.</a:t>
            </a:r>
          </a:p>
          <a:p>
            <a:pPr lvl="1" algn="just"/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2: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Pass retrieved articles into 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summarize_text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().</a:t>
            </a:r>
          </a:p>
          <a:p>
            <a:pPr lvl="1" algn="just"/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Diagnosis: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Targeted FP16 fine-tuning successfully imprinted strict causal dependencies into the SLM's logic matrix.</a:t>
            </a:r>
          </a:p>
        </p:txBody>
      </p:sp>
      <p:grpSp>
        <p:nvGrpSpPr>
          <p:cNvPr id="5" name="Google Shape;267;p19">
            <a:extLst>
              <a:ext uri="{FF2B5EF4-FFF2-40B4-BE49-F238E27FC236}">
                <a16:creationId xmlns:a16="http://schemas.microsoft.com/office/drawing/2014/main" id="{A962CF5B-0315-FAAE-D23F-5AB2EBEC6217}"/>
              </a:ext>
            </a:extLst>
          </p:cNvPr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6" name="Google Shape;268;p19">
              <a:extLst>
                <a:ext uri="{FF2B5EF4-FFF2-40B4-BE49-F238E27FC236}">
                  <a16:creationId xmlns:a16="http://schemas.microsoft.com/office/drawing/2014/main" id="{B2EEDBB6-5DB9-DC2E-2E8B-83FF215CFF80}"/>
                </a:ext>
              </a:extLst>
            </p:cNvPr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7" name="Google Shape;269;p19">
              <a:extLst>
                <a:ext uri="{FF2B5EF4-FFF2-40B4-BE49-F238E27FC236}">
                  <a16:creationId xmlns:a16="http://schemas.microsoft.com/office/drawing/2014/main" id="{8F399EB8-49F1-9F07-670C-E1E48FC8BF30}"/>
                </a:ext>
              </a:extLst>
            </p:cNvPr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8" name="Google Shape;270;p19">
              <a:extLst>
                <a:ext uri="{FF2B5EF4-FFF2-40B4-BE49-F238E27FC236}">
                  <a16:creationId xmlns:a16="http://schemas.microsoft.com/office/drawing/2014/main" id="{9C5AC763-4D9B-9C32-939F-372174DDDD2A}"/>
                </a:ext>
              </a:extLst>
            </p:cNvPr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9" name="Google Shape;271;p19">
            <a:extLst>
              <a:ext uri="{FF2B5EF4-FFF2-40B4-BE49-F238E27FC236}">
                <a16:creationId xmlns:a16="http://schemas.microsoft.com/office/drawing/2014/main" id="{369F3AC1-3F12-E1FE-56C7-546EAC821B0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" name="Google Shape;274;p19">
            <a:extLst>
              <a:ext uri="{FF2B5EF4-FFF2-40B4-BE49-F238E27FC236}">
                <a16:creationId xmlns:a16="http://schemas.microsoft.com/office/drawing/2014/main" id="{E5E0CCD4-26FC-4D09-5DEC-C729A286AC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Google Shape;85;p8">
            <a:extLst>
              <a:ext uri="{FF2B5EF4-FFF2-40B4-BE49-F238E27FC236}">
                <a16:creationId xmlns:a16="http://schemas.microsoft.com/office/drawing/2014/main" id="{01A96C16-4371-11F4-CFD1-0181D070E367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Google Shape;72;p7">
            <a:extLst>
              <a:ext uri="{FF2B5EF4-FFF2-40B4-BE49-F238E27FC236}">
                <a16:creationId xmlns:a16="http://schemas.microsoft.com/office/drawing/2014/main" id="{12BDE9F8-DA95-7353-5431-88C858F7BE4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6479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8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50" name="Google Shape;250;p18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52" name="Google Shape;252;p18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53" name="Google Shape;253;p18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54" name="Google Shape;254;p18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55" name="Google Shape;255;p18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56" name="Google Shape;256;p18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9" name="Google Shape;259;p18"/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2A09D9-998F-1AF3-A87A-3E91E31838CD}"/>
              </a:ext>
            </a:extLst>
          </p:cNvPr>
          <p:cNvSpPr txBox="1"/>
          <p:nvPr/>
        </p:nvSpPr>
        <p:spPr>
          <a:xfrm>
            <a:off x="95300" y="444847"/>
            <a:ext cx="426339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My research demonstrates that 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Step-Level Evaluation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provides the critical visibility needed to transform AI from a “Black Box” into a verifiable reasoning engine.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implementing a Teacher-Student diagnostic loop, we improved base accuracy from 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62.5% to 76.25%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on localized hardware while achieving a 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perfect 100% accuracy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on the targeted Arithmetic category, and reducing step-level reasoning failures by 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32.2%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validates that fine-tuned small models can securely and cost-efficiently fix logic flaws. Furthermore, 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integration with higher-capacity models (7B-14B)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will practically eliminate vulnerability to cross-category capabilities, allowing systems to scale new reasoning skills without severely forgetting factual knowledge.</a:t>
            </a:r>
          </a:p>
        </p:txBody>
      </p:sp>
      <p:sp>
        <p:nvSpPr>
          <p:cNvPr id="2" name="Google Shape;85;p8">
            <a:extLst>
              <a:ext uri="{FF2B5EF4-FFF2-40B4-BE49-F238E27FC236}">
                <a16:creationId xmlns:a16="http://schemas.microsoft.com/office/drawing/2014/main" id="{D2BEE323-C75D-CAA7-C7F7-187617217982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Google Shape;72;p7">
            <a:extLst>
              <a:ext uri="{FF2B5EF4-FFF2-40B4-BE49-F238E27FC236}">
                <a16:creationId xmlns:a16="http://schemas.microsoft.com/office/drawing/2014/main" id="{DB668B0C-B5A0-0D15-3A2F-026448A77CE2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0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80" name="Google Shape;280;p20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2209750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Acknowledgement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82" name="Google Shape;282;p20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83" name="Google Shape;283;p20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84" name="Google Shape;284;p20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85" name="Google Shape;285;p20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86" name="Google Shape;286;p20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9" name="Google Shape;289;p20"/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A2015E-AD3E-4B3E-8578-1ABECC4AD925}"/>
              </a:ext>
            </a:extLst>
          </p:cNvPr>
          <p:cNvSpPr/>
          <p:nvPr/>
        </p:nvSpPr>
        <p:spPr>
          <a:xfrm>
            <a:off x="49995" y="396273"/>
            <a:ext cx="4535055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sincerely express my gratitude to all those who supported me during my internship as an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Virtual Internship at AICTE -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EduSkills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Cohort-14.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Prof. Dr. Mrs. S. A.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Itkar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Head of the Computer Department, for her expert guidance.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Prof. Dr. Mrs. K. R. Joshi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Principal, for her leadership and vision.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B. D.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Phulpagar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Mentor, for his valuable guidance.</a:t>
            </a:r>
          </a:p>
          <a:p>
            <a:pPr algn="just"/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would also like to thank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EduSkills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providing me with the opportunity to work in a professional environment and gain practical exposure in AI/ML.</a:t>
            </a:r>
          </a:p>
          <a:p>
            <a:pPr algn="just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internship experience significantly enhanced my technical skills and helped me bridge the gap between theoretical knowledge and real-world application.</a:t>
            </a:r>
          </a:p>
          <a:p>
            <a:pPr algn="r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Yash Doke</a:t>
            </a:r>
            <a:endParaRPr lang="en-US" dirty="0"/>
          </a:p>
        </p:txBody>
      </p:sp>
      <p:sp>
        <p:nvSpPr>
          <p:cNvPr id="3" name="Google Shape;85;p8">
            <a:extLst>
              <a:ext uri="{FF2B5EF4-FFF2-40B4-BE49-F238E27FC236}">
                <a16:creationId xmlns:a16="http://schemas.microsoft.com/office/drawing/2014/main" id="{B76C537B-FEEB-3C11-80EC-AA7A2B6F35B4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72;p7">
            <a:extLst>
              <a:ext uri="{FF2B5EF4-FFF2-40B4-BE49-F238E27FC236}">
                <a16:creationId xmlns:a16="http://schemas.microsoft.com/office/drawing/2014/main" id="{D4106E40-81CE-FE24-32C8-20E2D1127AD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0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80" name="Google Shape;280;p20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References </a:t>
            </a:r>
            <a:endParaRPr dirty="0"/>
          </a:p>
        </p:txBody>
      </p:sp>
      <p:grpSp>
        <p:nvGrpSpPr>
          <p:cNvPr id="282" name="Google Shape;282;p20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83" name="Google Shape;283;p20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84" name="Google Shape;284;p20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85" name="Google Shape;285;p20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86" name="Google Shape;286;p20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9" name="Google Shape;289;p20"/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7E327C-8DBC-45D9-90F2-F38642F0A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125" y="391547"/>
            <a:ext cx="4246486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Wei, J., et al. (2022). "Chain-of-Thought Prompting Elicits Reasoning in Large Language Models." </a:t>
            </a:r>
            <a:r>
              <a:rPr lang="en-US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NeurIPS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2022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arXiv:2201.11903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Cobbe, K., et al. (2021). "Training Verifiers to Solve Math Word Problems." 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GSM8K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arXiv:2110.14168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Lightman, H., et al. (2023). "Let's Verify Step by Step." 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OpenAI / ICLR 2024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arXiv:2305.20050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Hu, E.J., et al. (2021). "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LoRA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Low-Rank Adaptation of Large Language Models." 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ICLR 2022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arXiv:2106.09685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Dettmers, T., et al. (2023). "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QLoRA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Efficient Finetuning of Quantized Language Models." </a:t>
            </a:r>
            <a:r>
              <a:rPr lang="en-US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NeurIPS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2023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arXiv:2305.14314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Zheng, L., et al. (2023). "Judging LLM-as-a-Judge with MT-Bench and Chatbot Arena." </a:t>
            </a:r>
            <a:r>
              <a:rPr lang="en-US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NeurIPS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2023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arXiv:2306.05685</a:t>
            </a:r>
          </a:p>
        </p:txBody>
      </p:sp>
      <p:sp>
        <p:nvSpPr>
          <p:cNvPr id="4" name="Google Shape;85;p8">
            <a:extLst>
              <a:ext uri="{FF2B5EF4-FFF2-40B4-BE49-F238E27FC236}">
                <a16:creationId xmlns:a16="http://schemas.microsoft.com/office/drawing/2014/main" id="{58D994A1-FB8A-28ED-3481-721E89A4C4E9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72;p7">
            <a:extLst>
              <a:ext uri="{FF2B5EF4-FFF2-40B4-BE49-F238E27FC236}">
                <a16:creationId xmlns:a16="http://schemas.microsoft.com/office/drawing/2014/main" id="{993384DC-9837-18D4-E1DA-28C3F440E52F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1021004"/>
      </p:ext>
    </p:extLst>
  </p:cSld>
  <p:clrMapOvr>
    <a:masterClrMapping/>
  </p:clrMapOvr>
  <p:transition>
    <p:fade thruBlk="1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0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80" name="Google Shape;280;p20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References </a:t>
            </a:r>
            <a:endParaRPr dirty="0"/>
          </a:p>
        </p:txBody>
      </p:sp>
      <p:grpSp>
        <p:nvGrpSpPr>
          <p:cNvPr id="282" name="Google Shape;282;p20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83" name="Google Shape;283;p20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84" name="Google Shape;284;p20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85" name="Google Shape;285;p20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86" name="Google Shape;286;p20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9" name="Google Shape;289;p20"/>
          <p:cNvSpPr txBox="1">
            <a:spLocks noGrp="1"/>
          </p:cNvSpPr>
          <p:nvPr>
            <p:ph type="sldNum" idx="12"/>
          </p:nvPr>
        </p:nvSpPr>
        <p:spPr>
          <a:xfrm>
            <a:off x="4275148" y="3328291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7E327C-8DBC-45D9-90F2-F38642F0A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309" y="668546"/>
            <a:ext cx="4178424" cy="21236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indent="-228600" algn="just">
              <a:buFont typeface="+mj-lt"/>
              <a:buAutoNum type="arabicPeriod" startAt="7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Frohberg, J. &amp; Binder, F. (2022). "CRASS: A Novel Data Set and Benchmark for Causal Reasoning." 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LREC 2022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arXiv:2112.11941</a:t>
            </a:r>
          </a:p>
          <a:p>
            <a:pPr marL="228600" indent="-228600" algn="just">
              <a:buFont typeface="+mj-lt"/>
              <a:buAutoNum type="arabicPeriod" startAt="7"/>
            </a:pP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Kadavath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S., et al. (2022). "Language Models (Mostly) Know What They Know." 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Anthropic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arXiv:2207.05221</a:t>
            </a:r>
          </a:p>
          <a:p>
            <a:pPr marL="228600" indent="-228600" algn="just">
              <a:buFont typeface="+mj-lt"/>
              <a:buAutoNum type="arabicPeriod" startAt="7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Huang, J., et al. (2023). "A Survey on Hallucination in Large Language Models." 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Computing Surveys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arXiv:2311.05232</a:t>
            </a:r>
          </a:p>
          <a:p>
            <a:pPr marL="228600" indent="-228600" algn="just">
              <a:buFont typeface="+mj-lt"/>
              <a:buAutoNum type="arabicPeriod" startAt="7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Lewis, P., et al. (2020). "Retrieval-Augmented Generation for Knowledge-Intensive NLP Tasks." </a:t>
            </a:r>
            <a:r>
              <a:rPr lang="en-US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NeurIPS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2020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arXiv:2005.11401</a:t>
            </a:r>
          </a:p>
        </p:txBody>
      </p:sp>
      <p:sp>
        <p:nvSpPr>
          <p:cNvPr id="3" name="Google Shape;85;p8">
            <a:extLst>
              <a:ext uri="{FF2B5EF4-FFF2-40B4-BE49-F238E27FC236}">
                <a16:creationId xmlns:a16="http://schemas.microsoft.com/office/drawing/2014/main" id="{84837B56-383B-68A1-BF69-3CC137B02050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72;p7">
            <a:extLst>
              <a:ext uri="{FF2B5EF4-FFF2-40B4-BE49-F238E27FC236}">
                <a16:creationId xmlns:a16="http://schemas.microsoft.com/office/drawing/2014/main" id="{0BC08CF6-1090-55E4-2C53-A589F0369102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6929408"/>
      </p:ext>
    </p:extLst>
  </p:cSld>
  <p:clrMapOvr>
    <a:masterClrMapping/>
  </p:clrMapOvr>
  <p:transition>
    <p:fade thruBlk="1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Google Shape;29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7678" y="199857"/>
            <a:ext cx="4296693" cy="2840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5" name="Google Shape;295;p21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96" name="Google Shape;296;p21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97" name="Google Shape;297;p21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1270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Font typeface="Arial"/>
                <a:buNone/>
              </a:pPr>
              <a:endParaRPr sz="1800" dirty="0"/>
            </a:p>
          </p:txBody>
        </p:sp>
        <p:sp>
          <p:nvSpPr>
            <p:cNvPr id="298" name="Google Shape;298;p21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99" name="Google Shape;299;p21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01" name="Google Shape;301;p21"/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033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20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Google Shape;72;p7">
            <a:extLst>
              <a:ext uri="{FF2B5EF4-FFF2-40B4-BE49-F238E27FC236}">
                <a16:creationId xmlns:a16="http://schemas.microsoft.com/office/drawing/2014/main" id="{D3733153-C980-4879-938A-FEC71BD9631A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85;p8">
            <a:extLst>
              <a:ext uri="{FF2B5EF4-FFF2-40B4-BE49-F238E27FC236}">
                <a16:creationId xmlns:a16="http://schemas.microsoft.com/office/drawing/2014/main" id="{290EFCCE-19F3-8708-0272-4F573F09BA74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731</TotalTime>
  <Words>1729</Words>
  <Application>Microsoft Office PowerPoint</Application>
  <PresentationFormat>Custom</PresentationFormat>
  <Paragraphs>220</Paragraphs>
  <Slides>20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 MT</vt:lpstr>
      <vt:lpstr>Roboto</vt:lpstr>
      <vt:lpstr>Times New Roman</vt:lpstr>
      <vt:lpstr>Arial</vt:lpstr>
      <vt:lpstr>Office Theme</vt:lpstr>
      <vt:lpstr>LLM Reasoning Evaluation &amp; Targeted  Fine-Tuning Pipeline</vt:lpstr>
      <vt:lpstr>Outline</vt:lpstr>
      <vt:lpstr>Internship Completion Certificate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Results</vt:lpstr>
      <vt:lpstr>Results</vt:lpstr>
      <vt:lpstr>PowerPoint Presentation</vt:lpstr>
      <vt:lpstr>PowerPoint Presentation</vt:lpstr>
      <vt:lpstr>Conclusion</vt:lpstr>
      <vt:lpstr>Acknowledgement</vt:lpstr>
      <vt:lpstr>References </vt:lpstr>
      <vt:lpstr>References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Deepfake and AI-Powered Attack Detection</dc:title>
  <dc:creator>Yash</dc:creator>
  <cp:lastModifiedBy>Yash Doke</cp:lastModifiedBy>
  <cp:revision>50</cp:revision>
  <dcterms:modified xsi:type="dcterms:W3CDTF">2026-04-25T07:56:22Z</dcterms:modified>
</cp:coreProperties>
</file>