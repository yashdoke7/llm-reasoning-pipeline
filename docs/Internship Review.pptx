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20"/>
  </p:notesMasterIdLst>
  <p:sldIdLst>
    <p:sldId id="256" r:id="rId2"/>
    <p:sldId id="257" r:id="rId3"/>
    <p:sldId id="273" r:id="rId4"/>
    <p:sldId id="258" r:id="rId5"/>
    <p:sldId id="262" r:id="rId6"/>
    <p:sldId id="260" r:id="rId7"/>
    <p:sldId id="263" r:id="rId8"/>
    <p:sldId id="275" r:id="rId9"/>
    <p:sldId id="264" r:id="rId10"/>
    <p:sldId id="276" r:id="rId11"/>
    <p:sldId id="278" r:id="rId12"/>
    <p:sldId id="268" r:id="rId13"/>
    <p:sldId id="279" r:id="rId14"/>
    <p:sldId id="267" r:id="rId15"/>
    <p:sldId id="269" r:id="rId16"/>
    <p:sldId id="280" r:id="rId17"/>
    <p:sldId id="281" r:id="rId18"/>
    <p:sldId id="270" r:id="rId19"/>
  </p:sldIdLst>
  <p:sldSz cx="4610100" cy="3460750"/>
  <p:notesSz cx="4610100" cy="3460750"/>
  <p:embeddedFontLs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4D2197-0E76-4BC1-8782-7AAC463DF250}">
  <a:tblStyle styleId="{D74D2197-0E76-4BC1-8782-7AAC463DF2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215" d="100"/>
          <a:sy n="215" d="100"/>
        </p:scale>
        <p:origin x="1264" y="10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768500" y="259550"/>
            <a:ext cx="3073550" cy="1297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4217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4659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8945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23817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9376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589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894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>
            <a:spLocks noGrp="1"/>
          </p:cNvSpPr>
          <p:nvPr>
            <p:ph type="body" idx="1"/>
          </p:nvPr>
        </p:nvSpPr>
        <p:spPr>
          <a:xfrm>
            <a:off x="461000" y="1643850"/>
            <a:ext cx="3688075" cy="155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39863" y="258763"/>
            <a:ext cx="1730375" cy="129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121094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body" idx="1"/>
          </p:nvPr>
        </p:nvSpPr>
        <p:spPr>
          <a:xfrm>
            <a:off x="402932" y="654391"/>
            <a:ext cx="4079240" cy="223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dt" idx="10"/>
          </p:nvPr>
        </p:nvSpPr>
        <p:spPr>
          <a:xfrm>
            <a:off x="3432695" y="3331252"/>
            <a:ext cx="599439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dt" idx="10"/>
          </p:nvPr>
        </p:nvSpPr>
        <p:spPr>
          <a:xfrm>
            <a:off x="3432695" y="3331252"/>
            <a:ext cx="599439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dt" idx="10"/>
          </p:nvPr>
        </p:nvSpPr>
        <p:spPr>
          <a:xfrm>
            <a:off x="3432695" y="3331252"/>
            <a:ext cx="599439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121094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dt" idx="10"/>
          </p:nvPr>
        </p:nvSpPr>
        <p:spPr>
          <a:xfrm>
            <a:off x="3432695" y="3331252"/>
            <a:ext cx="599439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121094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dt" idx="10"/>
          </p:nvPr>
        </p:nvSpPr>
        <p:spPr>
          <a:xfrm>
            <a:off x="3432695" y="3331252"/>
            <a:ext cx="599439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088361" y="324219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" name="Google Shape;7;p1"/>
          <p:cNvSpPr/>
          <p:nvPr/>
        </p:nvSpPr>
        <p:spPr>
          <a:xfrm>
            <a:off x="3008744" y="323823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" name="Google Shape;8;p1"/>
          <p:cNvSpPr/>
          <p:nvPr/>
        </p:nvSpPr>
        <p:spPr>
          <a:xfrm>
            <a:off x="3186546" y="3238232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" name="Google Shape;9;p1"/>
          <p:cNvSpPr/>
          <p:nvPr/>
        </p:nvSpPr>
        <p:spPr>
          <a:xfrm>
            <a:off x="3339032" y="323188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" name="Google Shape;10;p1"/>
          <p:cNvSpPr/>
          <p:nvPr/>
        </p:nvSpPr>
        <p:spPr>
          <a:xfrm>
            <a:off x="3275863" y="323823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" name="Google Shape;11;p1"/>
          <p:cNvSpPr/>
          <p:nvPr/>
        </p:nvSpPr>
        <p:spPr>
          <a:xfrm>
            <a:off x="3631883" y="324458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120000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2" name="Google Shape;12;p1"/>
          <p:cNvSpPr/>
          <p:nvPr/>
        </p:nvSpPr>
        <p:spPr>
          <a:xfrm>
            <a:off x="3542982" y="323823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3" name="Google Shape;13;p1"/>
          <p:cNvSpPr/>
          <p:nvPr/>
        </p:nvSpPr>
        <p:spPr>
          <a:xfrm>
            <a:off x="3619183" y="323188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D6D6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" name="Google Shape;14;p1"/>
          <p:cNvSpPr/>
          <p:nvPr/>
        </p:nvSpPr>
        <p:spPr>
          <a:xfrm>
            <a:off x="3886302" y="323188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 extrusionOk="0">
                <a:moveTo>
                  <a:pt x="0" y="0"/>
                </a:moveTo>
                <a:lnTo>
                  <a:pt x="38100" y="0"/>
                </a:lnTo>
              </a:path>
              <a:path w="50800" h="25400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Google Shape;15;p1"/>
          <p:cNvSpPr/>
          <p:nvPr/>
        </p:nvSpPr>
        <p:spPr>
          <a:xfrm>
            <a:off x="3810101" y="323823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" name="Google Shape;16;p1"/>
          <p:cNvSpPr/>
          <p:nvPr/>
        </p:nvSpPr>
        <p:spPr>
          <a:xfrm>
            <a:off x="3886302" y="326998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 extrusionOk="0">
                <a:moveTo>
                  <a:pt x="0" y="0"/>
                </a:moveTo>
                <a:lnTo>
                  <a:pt x="38100" y="0"/>
                </a:lnTo>
              </a:path>
              <a:path w="50800" h="12700" extrusionOk="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noFill/>
          <a:ln w="9525" cap="flat" cmpd="sng">
            <a:solidFill>
              <a:srgbClr val="D6D6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Google Shape;17;p1"/>
          <p:cNvSpPr/>
          <p:nvPr/>
        </p:nvSpPr>
        <p:spPr>
          <a:xfrm>
            <a:off x="4153434" y="323188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extrusionOk="0">
                <a:moveTo>
                  <a:pt x="0" y="0"/>
                </a:moveTo>
                <a:lnTo>
                  <a:pt x="38100" y="0"/>
                </a:lnTo>
              </a:path>
              <a:path w="50800" h="50800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extrusionOk="0">
                <a:moveTo>
                  <a:pt x="0" y="38100"/>
                </a:moveTo>
                <a:lnTo>
                  <a:pt x="38100" y="38100"/>
                </a:lnTo>
              </a:path>
              <a:path w="50800" h="50800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" name="Google Shape;18;p1"/>
          <p:cNvSpPr/>
          <p:nvPr/>
        </p:nvSpPr>
        <p:spPr>
          <a:xfrm>
            <a:off x="4451033" y="326236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9" name="Google Shape;19;p1"/>
          <p:cNvSpPr/>
          <p:nvPr/>
        </p:nvSpPr>
        <p:spPr>
          <a:xfrm>
            <a:off x="4423969" y="323586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" name="Google Shape;20;p1"/>
          <p:cNvSpPr/>
          <p:nvPr/>
        </p:nvSpPr>
        <p:spPr>
          <a:xfrm>
            <a:off x="4329112" y="323188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noFill/>
          <a:ln w="9525" cap="flat" cmpd="sng">
            <a:solidFill>
              <a:srgbClr val="ADAD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1" name="Google Shape;21;p1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121094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body" idx="1"/>
          </p:nvPr>
        </p:nvSpPr>
        <p:spPr>
          <a:xfrm>
            <a:off x="402932" y="654391"/>
            <a:ext cx="4079240" cy="2236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1"/>
          <p:cNvSpPr txBox="1">
            <a:spLocks noGrp="1"/>
          </p:cNvSpPr>
          <p:nvPr>
            <p:ph type="dt" idx="10"/>
          </p:nvPr>
        </p:nvSpPr>
        <p:spPr>
          <a:xfrm>
            <a:off x="3432695" y="3331252"/>
            <a:ext cx="599439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1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lvl="0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lvl="1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lvl="2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lvl="3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lvl="4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lvl="5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lvl="6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lvl="7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lvl="8" indent="0">
              <a:lnSpc>
                <a:spcPct val="100000"/>
              </a:lnSpc>
              <a:spcBef>
                <a:spcPts val="0"/>
              </a:spcBef>
              <a:buNone/>
              <a:defRPr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r>
              <a:rPr lang="en-US"/>
              <a:t> / 15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7"/>
          <p:cNvGrpSpPr/>
          <p:nvPr/>
        </p:nvGrpSpPr>
        <p:grpSpPr>
          <a:xfrm>
            <a:off x="62118" y="236842"/>
            <a:ext cx="4483736" cy="502047"/>
            <a:chOff x="87743" y="236842"/>
            <a:chExt cx="4483736" cy="502047"/>
          </a:xfrm>
        </p:grpSpPr>
        <p:sp>
          <p:nvSpPr>
            <p:cNvPr id="59" name="Google Shape;59;p7"/>
            <p:cNvSpPr/>
            <p:nvPr/>
          </p:nvSpPr>
          <p:spPr>
            <a:xfrm>
              <a:off x="87743" y="23684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 extrusionOk="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7"/>
            <p:cNvSpPr/>
            <p:nvPr/>
          </p:nvSpPr>
          <p:spPr>
            <a:xfrm>
              <a:off x="138544" y="300105"/>
              <a:ext cx="4432935" cy="438784"/>
            </a:xfrm>
            <a:custGeom>
              <a:avLst/>
              <a:gdLst/>
              <a:ahLst/>
              <a:cxnLst/>
              <a:rect l="l" t="t" r="r" b="b"/>
              <a:pathLst>
                <a:path w="4432935" h="438784" extrusionOk="0">
                  <a:moveTo>
                    <a:pt x="4432566" y="0"/>
                  </a:moveTo>
                  <a:lnTo>
                    <a:pt x="0" y="0"/>
                  </a:lnTo>
                  <a:lnTo>
                    <a:pt x="0" y="438781"/>
                  </a:lnTo>
                  <a:lnTo>
                    <a:pt x="4432566" y="43878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1" name="Google Shape;61;p7"/>
            <p:cNvSpPr/>
            <p:nvPr/>
          </p:nvSpPr>
          <p:spPr>
            <a:xfrm>
              <a:off x="87743" y="281269"/>
              <a:ext cx="4432935" cy="407034"/>
            </a:xfrm>
            <a:custGeom>
              <a:avLst/>
              <a:gdLst/>
              <a:ahLst/>
              <a:cxnLst/>
              <a:rect l="l" t="t" r="r" b="b"/>
              <a:pathLst>
                <a:path w="4432935" h="407034" extrusionOk="0">
                  <a:moveTo>
                    <a:pt x="4432566" y="0"/>
                  </a:moveTo>
                  <a:lnTo>
                    <a:pt x="0" y="0"/>
                  </a:lnTo>
                  <a:lnTo>
                    <a:pt x="0" y="356017"/>
                  </a:lnTo>
                  <a:lnTo>
                    <a:pt x="4008" y="375741"/>
                  </a:lnTo>
                  <a:lnTo>
                    <a:pt x="14922" y="391894"/>
                  </a:lnTo>
                  <a:lnTo>
                    <a:pt x="31075" y="402808"/>
                  </a:lnTo>
                  <a:lnTo>
                    <a:pt x="50800" y="406817"/>
                  </a:lnTo>
                  <a:lnTo>
                    <a:pt x="4381765" y="406817"/>
                  </a:lnTo>
                  <a:lnTo>
                    <a:pt x="4401490" y="402808"/>
                  </a:lnTo>
                  <a:lnTo>
                    <a:pt x="4417643" y="391894"/>
                  </a:lnTo>
                  <a:lnTo>
                    <a:pt x="4428558" y="375741"/>
                  </a:lnTo>
                  <a:lnTo>
                    <a:pt x="4432566" y="356017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2" name="Google Shape;62;p7"/>
          <p:cNvSpPr txBox="1">
            <a:spLocks noGrp="1"/>
          </p:cNvSpPr>
          <p:nvPr>
            <p:ph type="title"/>
          </p:nvPr>
        </p:nvSpPr>
        <p:spPr>
          <a:xfrm>
            <a:off x="49664" y="-74873"/>
            <a:ext cx="4432800" cy="788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1575" rIns="0" bIns="0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LLM Reasoning Evaluation &amp; Targeted </a:t>
            </a:r>
            <a:b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</a:br>
            <a:r>
              <a:rPr lang="en-US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Fine-Tuning Pipeline</a:t>
            </a:r>
            <a:endParaRPr dirty="0"/>
          </a:p>
        </p:txBody>
      </p:sp>
      <p:pic>
        <p:nvPicPr>
          <p:cNvPr id="64" name="Google Shape;6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12699" y="1823893"/>
            <a:ext cx="50673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1448399" y="2515867"/>
            <a:ext cx="1770473" cy="659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marR="5080" lvl="0">
              <a:lnSpc>
                <a:spcPct val="118750"/>
              </a:lnSpc>
            </a:pP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Department of Computer Engineering</a:t>
            </a:r>
          </a:p>
          <a:p>
            <a:pPr marL="12700" marR="508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PES Modern College of Engineering 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Savitribai Phule Pune University</a:t>
            </a:r>
            <a:endParaRPr sz="8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marL="3810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-April-2026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66" name="Google Shape;66;p7"/>
          <p:cNvGrpSpPr/>
          <p:nvPr/>
        </p:nvGrpSpPr>
        <p:grpSpPr>
          <a:xfrm>
            <a:off x="-11362" y="3330146"/>
            <a:ext cx="4608017" cy="129539"/>
            <a:chOff x="0" y="3326968"/>
            <a:chExt cx="4608017" cy="129539"/>
          </a:xfrm>
        </p:grpSpPr>
        <p:sp>
          <p:nvSpPr>
            <p:cNvPr id="67" name="Google Shape;67;p7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8" name="Google Shape;68;p7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9" name="Google Shape;69;p7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0" name="Google Shape;70;p7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Google Shape;72;p7"/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Google Shape;73;p7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7">
            <a:extLst>
              <a:ext uri="{FF2B5EF4-FFF2-40B4-BE49-F238E27FC236}">
                <a16:creationId xmlns:a16="http://schemas.microsoft.com/office/drawing/2014/main" id="{0B054412-D6C8-4EDB-AF30-1060FB441BC7}"/>
              </a:ext>
            </a:extLst>
          </p:cNvPr>
          <p:cNvSpPr txBox="1"/>
          <p:nvPr/>
        </p:nvSpPr>
        <p:spPr>
          <a:xfrm>
            <a:off x="-11362" y="834532"/>
            <a:ext cx="4608017" cy="9274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“</a:t>
            </a:r>
            <a:r>
              <a:rPr lang="en-US" sz="1000" dirty="0">
                <a:latin typeface="Times New Roman"/>
                <a:cs typeface="Times New Roman"/>
              </a:rPr>
              <a:t>AI/ML Virtual Internship</a:t>
            </a:r>
            <a:r>
              <a:rPr sz="1000" dirty="0">
                <a:latin typeface="Times New Roman"/>
                <a:cs typeface="Times New Roman"/>
              </a:rPr>
              <a:t>”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at</a:t>
            </a:r>
            <a:r>
              <a:rPr sz="1000" spc="18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“</a:t>
            </a:r>
            <a:r>
              <a:rPr lang="en-US" sz="1000" dirty="0">
                <a:latin typeface="Times New Roman"/>
                <a:cs typeface="Times New Roman"/>
              </a:rPr>
              <a:t>AICTE-</a:t>
            </a:r>
            <a:r>
              <a:rPr lang="en-US" sz="1000" dirty="0" err="1">
                <a:latin typeface="Times New Roman"/>
                <a:cs typeface="Times New Roman"/>
              </a:rPr>
              <a:t>EduSkills</a:t>
            </a:r>
            <a:r>
              <a:rPr lang="en-US" sz="1000" dirty="0">
                <a:latin typeface="Times New Roman"/>
                <a:cs typeface="Times New Roman"/>
              </a:rPr>
              <a:t> Cohort-14</a:t>
            </a:r>
            <a:r>
              <a:rPr sz="1050" spc="-10" dirty="0">
                <a:latin typeface="Times New Roman"/>
                <a:cs typeface="Times New Roman"/>
              </a:rPr>
              <a:t>”</a:t>
            </a:r>
            <a:endParaRPr sz="10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</a:pPr>
            <a:r>
              <a:rPr lang="en-US" sz="1000" dirty="0">
                <a:latin typeface="Times New Roman"/>
                <a:cs typeface="Times New Roman"/>
              </a:rPr>
              <a:t>Submitted by , </a:t>
            </a:r>
            <a:endParaRPr sz="1000" dirty="0">
              <a:latin typeface="Times New Roman"/>
              <a:cs typeface="Times New Roman"/>
            </a:endParaRPr>
          </a:p>
          <a:p>
            <a:pPr marL="181610" algn="ctr">
              <a:lnSpc>
                <a:spcPct val="100000"/>
              </a:lnSpc>
            </a:pPr>
            <a:r>
              <a:rPr lang="en-US" sz="1100" dirty="0">
                <a:latin typeface="Times New Roman"/>
                <a:cs typeface="Times New Roman"/>
              </a:rPr>
              <a:t>Yash Kailas Doke [T400310722]</a:t>
            </a:r>
            <a:endParaRPr sz="1100" dirty="0">
              <a:latin typeface="Times New Roman"/>
              <a:cs typeface="Times New Roman"/>
            </a:endParaRPr>
          </a:p>
          <a:p>
            <a:pPr marL="1020444" marR="526415" indent="-355600" algn="ctr">
              <a:lnSpc>
                <a:spcPct val="103200"/>
              </a:lnSpc>
              <a:spcBef>
                <a:spcPts val="10"/>
              </a:spcBef>
            </a:pPr>
            <a:r>
              <a:rPr sz="900" dirty="0">
                <a:latin typeface="Times New Roman"/>
                <a:cs typeface="Times New Roman"/>
              </a:rPr>
              <a:t>Under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the</a:t>
            </a:r>
            <a:r>
              <a:rPr sz="900" spc="-25" dirty="0">
                <a:latin typeface="Times New Roman"/>
                <a:cs typeface="Times New Roman"/>
              </a:rPr>
              <a:t> </a:t>
            </a:r>
            <a:r>
              <a:rPr sz="900" spc="-10" dirty="0">
                <a:latin typeface="Times New Roman"/>
                <a:cs typeface="Times New Roman"/>
              </a:rPr>
              <a:t>Guidance </a:t>
            </a:r>
            <a:r>
              <a:rPr sz="900" spc="-25" dirty="0">
                <a:latin typeface="Times New Roman"/>
                <a:cs typeface="Times New Roman"/>
              </a:rPr>
              <a:t>o</a:t>
            </a:r>
            <a:r>
              <a:rPr lang="en-US" sz="900" spc="-25" dirty="0">
                <a:latin typeface="Times New Roman"/>
                <a:cs typeface="Times New Roman"/>
              </a:rPr>
              <a:t>f</a:t>
            </a:r>
            <a:endParaRPr sz="900" dirty="0">
              <a:latin typeface="Times New Roman"/>
              <a:cs typeface="Times New Roman"/>
            </a:endParaRPr>
          </a:p>
          <a:p>
            <a:pPr marR="3175" algn="ctr">
              <a:spcBef>
                <a:spcPts val="25"/>
              </a:spcBef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Dr. B. D. </a:t>
            </a:r>
            <a:r>
              <a:rPr lang="en-IN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Phulpagar</a:t>
            </a:r>
            <a:endParaRPr sz="1100" b="1" dirty="0">
              <a:latin typeface="Times New Roman"/>
              <a:cs typeface="Times New Roman"/>
            </a:endParaRPr>
          </a:p>
        </p:txBody>
      </p:sp>
      <p:sp>
        <p:nvSpPr>
          <p:cNvPr id="2" name="Google Shape;85;p8">
            <a:extLst>
              <a:ext uri="{FF2B5EF4-FFF2-40B4-BE49-F238E27FC236}">
                <a16:creationId xmlns:a16="http://schemas.microsoft.com/office/drawing/2014/main" id="{C5D2F868-375B-78B2-7347-A40CDC90B752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9" name="Google Shape;79;p8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1210945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81" name="Google Shape;81;p8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76" y="12903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4" name="Google Shape;84;p8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-107280" y="367510"/>
            <a:ext cx="4385400" cy="2598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60045" indent="-147955">
              <a:spcBef>
                <a:spcPts val="100"/>
              </a:spcBef>
              <a:buFont typeface="Arial MT"/>
              <a:buChar char="•"/>
              <a:tabLst>
                <a:tab pos="360045" algn="l"/>
              </a:tabLs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Completion Certificate</a:t>
            </a: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US" sz="12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US" sz="12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</a:t>
            </a:r>
            <a:r>
              <a:rPr lang="en-US" sz="1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  <a:r>
              <a:rPr lang="en-US" sz="1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z="1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Details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0045" indent="-147955">
              <a:buFont typeface="Arial MT"/>
              <a:buChar char="•"/>
              <a:tabLst>
                <a:tab pos="360045" algn="l"/>
              </a:tabLs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US" sz="12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1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1200" u="sng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72;p7">
            <a:extLst>
              <a:ext uri="{FF2B5EF4-FFF2-40B4-BE49-F238E27FC236}">
                <a16:creationId xmlns:a16="http://schemas.microsoft.com/office/drawing/2014/main" id="{5F4E910E-267B-DCBE-1C67-8256B7AB491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85;p8">
            <a:extLst>
              <a:ext uri="{FF2B5EF4-FFF2-40B4-BE49-F238E27FC236}">
                <a16:creationId xmlns:a16="http://schemas.microsoft.com/office/drawing/2014/main" id="{415793B7-A749-9FB9-3926-5218AE772DF5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-178" y="0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79" name="Google Shape;79;p8"/>
          <p:cNvSpPr txBox="1">
            <a:spLocks noGrp="1"/>
          </p:cNvSpPr>
          <p:nvPr>
            <p:ph type="title"/>
          </p:nvPr>
        </p:nvSpPr>
        <p:spPr>
          <a:xfrm>
            <a:off x="148866" y="44604"/>
            <a:ext cx="4259645" cy="24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212090">
              <a:spcBef>
                <a:spcPts val="100"/>
              </a:spcBef>
              <a:tabLst>
                <a:tab pos="36004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Completion Certificate</a:t>
            </a:r>
          </a:p>
        </p:txBody>
      </p:sp>
      <p:grpSp>
        <p:nvGrpSpPr>
          <p:cNvPr id="80" name="Google Shape;80;p8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81" name="Google Shape;81;p8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1"/>
                  </a:lnTo>
                  <a:lnTo>
                    <a:pt x="1535976" y="12903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4" name="Google Shape;84;p8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8"/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8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-110239" y="367510"/>
            <a:ext cx="4385400" cy="382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12090">
              <a:spcBef>
                <a:spcPts val="100"/>
              </a:spcBef>
              <a:tabLst>
                <a:tab pos="360045" algn="l"/>
              </a:tabLst>
            </a:pPr>
            <a:endParaRPr sz="1200" u="sng" dirty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91985-E70D-96D6-A2EE-26B66D38A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344" y="333810"/>
            <a:ext cx="2094688" cy="2980072"/>
          </a:xfrm>
          <a:prstGeom prst="rect">
            <a:avLst/>
          </a:prstGeom>
        </p:spPr>
      </p:pic>
      <p:sp>
        <p:nvSpPr>
          <p:cNvPr id="2" name="Google Shape;72;p7">
            <a:extLst>
              <a:ext uri="{FF2B5EF4-FFF2-40B4-BE49-F238E27FC236}">
                <a16:creationId xmlns:a16="http://schemas.microsoft.com/office/drawing/2014/main" id="{AA8A55EF-11FA-89B4-0627-FFCF9C61148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15803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4" name="Google Shape;94;p9"/>
          <p:cNvSpPr txBox="1"/>
          <p:nvPr/>
        </p:nvSpPr>
        <p:spPr>
          <a:xfrm>
            <a:off x="95300" y="45565"/>
            <a:ext cx="977900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Introduction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95" name="Google Shape;95;p9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96" name="Google Shape;96;p9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7" name="Google Shape;97;p9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98" name="Google Shape;98;p9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99" name="Google Shape;99;p9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28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/>
            <a:endParaRPr lang="en-US" dirty="0"/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Google Shape;103;p9"/>
          <p:cNvSpPr txBox="1"/>
          <p:nvPr/>
        </p:nvSpPr>
        <p:spPr>
          <a:xfrm>
            <a:off x="119707" y="367510"/>
            <a:ext cx="4368600" cy="263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Reasoning Gap: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chatbots (Qwen, Llama) are fluent but frequently make “Invisible Errors” in logic.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Use-Case Needs: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Medical, Navigation or Technical chatbots require domain-specialized reasoning, not just generalized word prediction.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Fine-Tuning Matters: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 models are too large/expensive for local deployment; specialized small models (3B/7B) are the industrial preference for privacy and cost.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two-phase “Diagnose-and-Fix” pipeline.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“Teacher-Student” Strategy: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14B model teaching a 3B model.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C5A2D7-7E17-C321-FB75-E631F6A9D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323" y="2374316"/>
            <a:ext cx="1497367" cy="816746"/>
          </a:xfrm>
          <a:prstGeom prst="rect">
            <a:avLst/>
          </a:prstGeom>
        </p:spPr>
      </p:pic>
      <p:sp>
        <p:nvSpPr>
          <p:cNvPr id="8" name="Google Shape;85;p8">
            <a:extLst>
              <a:ext uri="{FF2B5EF4-FFF2-40B4-BE49-F238E27FC236}">
                <a16:creationId xmlns:a16="http://schemas.microsoft.com/office/drawing/2014/main" id="{B445AC1F-8D42-9224-714E-741A4A81DCCA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Google Shape;72;p7">
            <a:extLst>
              <a:ext uri="{FF2B5EF4-FFF2-40B4-BE49-F238E27FC236}">
                <a16:creationId xmlns:a16="http://schemas.microsoft.com/office/drawing/2014/main" id="{AD0AEF20-4852-6A69-5088-EB2B0F643C4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8" name="Google Shape;158;p13"/>
          <p:cNvSpPr txBox="1"/>
          <p:nvPr/>
        </p:nvSpPr>
        <p:spPr>
          <a:xfrm>
            <a:off x="95300" y="45565"/>
            <a:ext cx="1581785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60" name="Google Shape;160;p13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161" name="Google Shape;161;p13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64" name="Google Shape;164;p13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13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95300" y="453900"/>
            <a:ext cx="4268400" cy="27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Scrutiny: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Benchmarks (GSM8K, MMLU) only check “Did the model get the right answer?” (Blind Scoring). Binary scoring hides logical drift and intermediate factual hallucinations.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Propagation: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Hidden failures in early steps cascade into wrong conclusions. A single faulty assumption in “Step 2” makes subsequent correct steps meaningless.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Deficiency: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broad-data fine-tuning doesn’t target specific skill gaps. Practitioners lack the diagnostics to repair individual logic (e.g., Arithmetic vs. Tool-use).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Goal: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Shift from measuring “what” the final answer is to analyzing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“how” the model derived it.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85;p8">
            <a:extLst>
              <a:ext uri="{FF2B5EF4-FFF2-40B4-BE49-F238E27FC236}">
                <a16:creationId xmlns:a16="http://schemas.microsoft.com/office/drawing/2014/main" id="{B7831353-7E8E-99E4-701E-A3C2487D9181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72;p7">
            <a:extLst>
              <a:ext uri="{FF2B5EF4-FFF2-40B4-BE49-F238E27FC236}">
                <a16:creationId xmlns:a16="http://schemas.microsoft.com/office/drawing/2014/main" id="{E3D482A2-5A6D-BC9B-C710-11068FCFEBA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1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129" name="Google Shape;129;p11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32" name="Google Shape;132;p11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5" name="Google Shape;135;p11"/>
          <p:cNvSpPr txBox="1">
            <a:spLocks noGrp="1"/>
          </p:cNvSpPr>
          <p:nvPr>
            <p:ph type="sldNum" idx="12"/>
          </p:nvPr>
        </p:nvSpPr>
        <p:spPr>
          <a:xfrm>
            <a:off x="4275161" y="3331252"/>
            <a:ext cx="2667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142;p12">
            <a:extLst>
              <a:ext uri="{FF2B5EF4-FFF2-40B4-BE49-F238E27FC236}">
                <a16:creationId xmlns:a16="http://schemas.microsoft.com/office/drawing/2014/main" id="{E217DFC9-F218-466C-82E4-0050519FBCDE}"/>
              </a:ext>
            </a:extLst>
          </p:cNvPr>
          <p:cNvSpPr txBox="1"/>
          <p:nvPr/>
        </p:nvSpPr>
        <p:spPr>
          <a:xfrm>
            <a:off x="377016" y="406972"/>
            <a:ext cx="3983113" cy="2456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5225" rIns="0" bIns="0" anchor="t" anchorCtr="0">
            <a:spAutoFit/>
          </a:bodyPr>
          <a:lstStyle/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Vision: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Building a platform to verify and fix “logical drift” in localized LLMs.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Reasoning Categories: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Arithmetic (GSM8K), Causal Reasoning (CRASS), Tool-Use Planning, and Factual Consistency.</a:t>
            </a:r>
          </a:p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228600" lvl="0" indent="-228600" algn="just">
              <a:buFont typeface="+mj-lt"/>
              <a:buAutoNum type="alphaL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meta-evaluation framework to pinpoint reasoning failures.</a:t>
            </a:r>
          </a:p>
          <a:p>
            <a:pPr marL="228600" lvl="0" indent="-228600" algn="just">
              <a:buFont typeface="+mj-lt"/>
              <a:buAutoNum type="alphaL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diagnosis data to generate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Targeted Training Traces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 algn="just">
              <a:buFont typeface="+mj-lt"/>
              <a:buAutoNum type="alphaL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QLoRA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drastically reduce step-level failure rates.</a:t>
            </a:r>
          </a:p>
          <a:p>
            <a:pPr marL="228600" lvl="0" indent="-228600" algn="just">
              <a:buFont typeface="+mj-lt"/>
              <a:buAutoNum type="alphaL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FP16 precision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teach a 3B parameter “Student” model the logic of a 14B “Teacher.”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CF0985-B4BB-41A5-82A0-793367C31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84" y="531763"/>
            <a:ext cx="79255" cy="792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1CA3E1F-13A2-0DA0-494D-208D7D421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84" y="1635182"/>
            <a:ext cx="79255" cy="79255"/>
          </a:xfrm>
          <a:prstGeom prst="rect">
            <a:avLst/>
          </a:prstGeom>
        </p:spPr>
      </p:pic>
      <p:sp>
        <p:nvSpPr>
          <p:cNvPr id="4" name="Google Shape;157;p13">
            <a:extLst>
              <a:ext uri="{FF2B5EF4-FFF2-40B4-BE49-F238E27FC236}">
                <a16:creationId xmlns:a16="http://schemas.microsoft.com/office/drawing/2014/main" id="{B1A3F0B3-2A9D-A05B-0C5C-9EA6031A8751}"/>
              </a:ext>
            </a:extLst>
          </p:cNvPr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" name="Google Shape;158;p13">
            <a:extLst>
              <a:ext uri="{FF2B5EF4-FFF2-40B4-BE49-F238E27FC236}">
                <a16:creationId xmlns:a16="http://schemas.microsoft.com/office/drawing/2014/main" id="{EBDC60C2-1131-965E-389B-DA9B39D2BDC2}"/>
              </a:ext>
            </a:extLst>
          </p:cNvPr>
          <p:cNvSpPr txBox="1"/>
          <p:nvPr/>
        </p:nvSpPr>
        <p:spPr>
          <a:xfrm>
            <a:off x="95300" y="45565"/>
            <a:ext cx="1581785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Scope &amp; Objectives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Google Shape;85;p8">
            <a:extLst>
              <a:ext uri="{FF2B5EF4-FFF2-40B4-BE49-F238E27FC236}">
                <a16:creationId xmlns:a16="http://schemas.microsoft.com/office/drawing/2014/main" id="{D8AEC598-7DD2-F563-E113-D77DE4D114D8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72;p7">
            <a:extLst>
              <a:ext uri="{FF2B5EF4-FFF2-40B4-BE49-F238E27FC236}">
                <a16:creationId xmlns:a16="http://schemas.microsoft.com/office/drawing/2014/main" id="{A3D059A9-FB97-2C4B-D540-E0133673D89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5" name="Google Shape;175;p14"/>
          <p:cNvSpPr txBox="1"/>
          <p:nvPr/>
        </p:nvSpPr>
        <p:spPr>
          <a:xfrm>
            <a:off x="95300" y="45565"/>
            <a:ext cx="1771650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77" name="Google Shape;177;p14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178" name="Google Shape;178;p14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1" name="Google Shape;181;p14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4"/>
          <p:cNvSpPr txBox="1">
            <a:spLocks noGrp="1"/>
          </p:cNvSpPr>
          <p:nvPr>
            <p:ph type="sldNum" idx="12"/>
          </p:nvPr>
        </p:nvSpPr>
        <p:spPr>
          <a:xfrm>
            <a:off x="4275160" y="3331252"/>
            <a:ext cx="332767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FE18BE-C7A2-4717-9595-484F3E2FAA43}"/>
              </a:ext>
            </a:extLst>
          </p:cNvPr>
          <p:cNvSpPr/>
          <p:nvPr/>
        </p:nvSpPr>
        <p:spPr>
          <a:xfrm>
            <a:off x="141672" y="429504"/>
            <a:ext cx="428497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— Diagnose (The Teacher):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Decomposer: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Breaks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atomic, numbered logical steps.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Evaluator (Teacher):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High-parameter model (14B) scores every step.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Divergence Logic: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Identifying where logic drifts using Ground-Truth Backtracking.</a:t>
            </a:r>
          </a:p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 — Fix (The Learning Loop):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Builder: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 reports are converted into expert-corrected training traces.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Engine: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targeted weight updates with FP16 high-precision.</a:t>
            </a:r>
          </a:p>
        </p:txBody>
      </p:sp>
      <p:sp>
        <p:nvSpPr>
          <p:cNvPr id="3" name="Google Shape;85;p8">
            <a:extLst>
              <a:ext uri="{FF2B5EF4-FFF2-40B4-BE49-F238E27FC236}">
                <a16:creationId xmlns:a16="http://schemas.microsoft.com/office/drawing/2014/main" id="{06C10338-B991-8B65-33A2-BEA09B172EA9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72;p7">
            <a:extLst>
              <a:ext uri="{FF2B5EF4-FFF2-40B4-BE49-F238E27FC236}">
                <a16:creationId xmlns:a16="http://schemas.microsoft.com/office/drawing/2014/main" id="{26CF9C5A-BB28-0C96-6125-FBFF876F03E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5" name="Google Shape;175;p14"/>
          <p:cNvSpPr txBox="1"/>
          <p:nvPr/>
        </p:nvSpPr>
        <p:spPr>
          <a:xfrm>
            <a:off x="95300" y="45565"/>
            <a:ext cx="1771650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177" name="Google Shape;177;p14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178" name="Google Shape;178;p14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79" name="Google Shape;179;p14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180" name="Google Shape;180;p14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81" name="Google Shape;181;p14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4" name="Google Shape;184;p14"/>
          <p:cNvSpPr txBox="1">
            <a:spLocks noGrp="1"/>
          </p:cNvSpPr>
          <p:nvPr>
            <p:ph type="sldNum" idx="12"/>
          </p:nvPr>
        </p:nvSpPr>
        <p:spPr>
          <a:xfrm>
            <a:off x="4275160" y="3331252"/>
            <a:ext cx="332767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F257C6-2555-4CFF-AC56-99C5070D4734}"/>
              </a:ext>
            </a:extLst>
          </p:cNvPr>
          <p:cNvSpPr txBox="1"/>
          <p:nvPr/>
        </p:nvSpPr>
        <p:spPr>
          <a:xfrm>
            <a:off x="1330724" y="2913610"/>
            <a:ext cx="3482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Architecture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E2AB25-E178-B8C2-8580-3638D2935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38" y="458292"/>
            <a:ext cx="4104443" cy="2290852"/>
          </a:xfrm>
          <a:prstGeom prst="rect">
            <a:avLst/>
          </a:prstGeom>
        </p:spPr>
      </p:pic>
      <p:sp>
        <p:nvSpPr>
          <p:cNvPr id="4" name="Google Shape;85;p8">
            <a:extLst>
              <a:ext uri="{FF2B5EF4-FFF2-40B4-BE49-F238E27FC236}">
                <a16:creationId xmlns:a16="http://schemas.microsoft.com/office/drawing/2014/main" id="{68DD8F8F-AF3A-0712-A8A6-96A4B204E246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72;p7">
            <a:extLst>
              <a:ext uri="{FF2B5EF4-FFF2-40B4-BE49-F238E27FC236}">
                <a16:creationId xmlns:a16="http://schemas.microsoft.com/office/drawing/2014/main" id="{DE411B68-6E30-1CEA-C8AA-BB76173259F6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975614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05" name="Google Shape;205;p15"/>
          <p:cNvSpPr txBox="1"/>
          <p:nvPr/>
        </p:nvSpPr>
        <p:spPr>
          <a:xfrm>
            <a:off x="95300" y="45565"/>
            <a:ext cx="21342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Methodology/Algorithm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206" name="Google Shape;206;p15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207" name="Google Shape;207;p15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10" name="Google Shape;210;p15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7FF3DD-1483-4314-B35F-BBD00392020D}"/>
              </a:ext>
            </a:extLst>
          </p:cNvPr>
          <p:cNvSpPr/>
          <p:nvPr/>
        </p:nvSpPr>
        <p:spPr>
          <a:xfrm>
            <a:off x="228542" y="546791"/>
            <a:ext cx="4108261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dataset -&gt; Decomposition -&gt; LLM-as-Judge scoring.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 failure type (Hallucination vs. Logic Drift).</a:t>
            </a:r>
          </a:p>
          <a:p>
            <a:pPr lvl="0" algn="just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weakest logical category from Phase 1.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100 high-quality “Correct Trace” training examples.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Fine-Tuning with FP16 precision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(rank=16, 3 epochs).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&amp; Quantize to GGUF for efficient local inference via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Google Shape;85;p8">
            <a:extLst>
              <a:ext uri="{FF2B5EF4-FFF2-40B4-BE49-F238E27FC236}">
                <a16:creationId xmlns:a16="http://schemas.microsoft.com/office/drawing/2014/main" id="{17612DC6-63FA-7BA9-0CAC-636CA1433B6A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72;p7">
            <a:extLst>
              <a:ext uri="{FF2B5EF4-FFF2-40B4-BE49-F238E27FC236}">
                <a16:creationId xmlns:a16="http://schemas.microsoft.com/office/drawing/2014/main" id="{42356933-E1B3-71E1-1300-BCFDE302C4C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228;p16">
            <a:extLst>
              <a:ext uri="{FF2B5EF4-FFF2-40B4-BE49-F238E27FC236}">
                <a16:creationId xmlns:a16="http://schemas.microsoft.com/office/drawing/2014/main" id="{9BF55C77-214F-BF96-BDBE-181AB8B635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75148" y="3331250"/>
            <a:ext cx="3330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0" name="Google Shape;220;p16"/>
          <p:cNvSpPr txBox="1"/>
          <p:nvPr/>
        </p:nvSpPr>
        <p:spPr>
          <a:xfrm>
            <a:off x="95300" y="45565"/>
            <a:ext cx="21138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chnologies Used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222" name="Google Shape;222;p16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25" name="Google Shape;225;p16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16"/>
          <p:cNvSpPr txBox="1">
            <a:spLocks noGrp="1"/>
          </p:cNvSpPr>
          <p:nvPr>
            <p:ph type="sldNum" idx="12"/>
          </p:nvPr>
        </p:nvSpPr>
        <p:spPr>
          <a:xfrm>
            <a:off x="4275148" y="3331250"/>
            <a:ext cx="3330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-2083" y="434850"/>
            <a:ext cx="4610100" cy="326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B2ACBD-3F31-4CD1-92C4-1245148F48E0}"/>
              </a:ext>
            </a:extLst>
          </p:cNvPr>
          <p:cNvSpPr txBox="1"/>
          <p:nvPr/>
        </p:nvSpPr>
        <p:spPr>
          <a:xfrm>
            <a:off x="214583" y="659020"/>
            <a:ext cx="39890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 Platforms: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(Local) &amp;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Groq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(Cloud).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Fine-Tuning Framework: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PEFT, TRL, &amp; FP16 precision.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llama.cpp (GGUF format).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LLM-as-a-Judge with JSON metadata output.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Grounding Engine: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Wikipedia API for RAG-based diagnostics.</a:t>
            </a:r>
          </a:p>
        </p:txBody>
      </p:sp>
      <p:sp>
        <p:nvSpPr>
          <p:cNvPr id="3" name="Google Shape;85;p8">
            <a:extLst>
              <a:ext uri="{FF2B5EF4-FFF2-40B4-BE49-F238E27FC236}">
                <a16:creationId xmlns:a16="http://schemas.microsoft.com/office/drawing/2014/main" id="{9FE71D1B-C9AD-5595-D1EC-E19ADCD5F92B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72;p7">
            <a:extLst>
              <a:ext uri="{FF2B5EF4-FFF2-40B4-BE49-F238E27FC236}">
                <a16:creationId xmlns:a16="http://schemas.microsoft.com/office/drawing/2014/main" id="{5A6ED769-195D-C312-3E4B-8F39365F28E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624886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6"/>
          <p:cNvSpPr/>
          <p:nvPr/>
        </p:nvSpPr>
        <p:spPr>
          <a:xfrm>
            <a:off x="2083" y="0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20" name="Google Shape;220;p16"/>
          <p:cNvSpPr txBox="1"/>
          <p:nvPr/>
        </p:nvSpPr>
        <p:spPr>
          <a:xfrm>
            <a:off x="97383" y="45577"/>
            <a:ext cx="2113800" cy="2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Weekly Work Details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221" name="Google Shape;221;p16"/>
          <p:cNvGrpSpPr/>
          <p:nvPr/>
        </p:nvGrpSpPr>
        <p:grpSpPr>
          <a:xfrm>
            <a:off x="2083" y="3326980"/>
            <a:ext cx="4608017" cy="129539"/>
            <a:chOff x="0" y="3326968"/>
            <a:chExt cx="4608017" cy="129539"/>
          </a:xfrm>
        </p:grpSpPr>
        <p:sp>
          <p:nvSpPr>
            <p:cNvPr id="222" name="Google Shape;222;p16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3" name="Google Shape;223;p16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25" name="Google Shape;225;p16"/>
          <p:cNvSpPr txBox="1">
            <a:spLocks noGrp="1"/>
          </p:cNvSpPr>
          <p:nvPr>
            <p:ph type="ftr" idx="11"/>
          </p:nvPr>
        </p:nvSpPr>
        <p:spPr>
          <a:xfrm>
            <a:off x="424027" y="3331264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8" name="Google Shape;228;p16"/>
          <p:cNvSpPr txBox="1">
            <a:spLocks noGrp="1"/>
          </p:cNvSpPr>
          <p:nvPr>
            <p:ph type="sldNum" idx="12"/>
          </p:nvPr>
        </p:nvSpPr>
        <p:spPr>
          <a:xfrm>
            <a:off x="4277231" y="3331262"/>
            <a:ext cx="3330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015FF4-CFBD-4DD4-8072-3F30A6F82744}"/>
              </a:ext>
            </a:extLst>
          </p:cNvPr>
          <p:cNvSpPr txBox="1"/>
          <p:nvPr/>
        </p:nvSpPr>
        <p:spPr>
          <a:xfrm>
            <a:off x="1278102" y="3026019"/>
            <a:ext cx="188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Weekly Workflow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D19BD6-E1AB-8C1C-82C8-F67412CE2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650350"/>
              </p:ext>
            </p:extLst>
          </p:nvPr>
        </p:nvGraphicFramePr>
        <p:xfrm>
          <a:off x="175540" y="367522"/>
          <a:ext cx="4293832" cy="2679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42">
                  <a:extLst>
                    <a:ext uri="{9D8B030D-6E8A-4147-A177-3AD203B41FA5}">
                      <a16:colId xmlns:a16="http://schemas.microsoft.com/office/drawing/2014/main" val="2012636812"/>
                    </a:ext>
                  </a:extLst>
                </a:gridCol>
                <a:gridCol w="3390690">
                  <a:extLst>
                    <a:ext uri="{9D8B030D-6E8A-4147-A177-3AD203B41FA5}">
                      <a16:colId xmlns:a16="http://schemas.microsoft.com/office/drawing/2014/main" val="1540817259"/>
                    </a:ext>
                  </a:extLst>
                </a:gridCol>
              </a:tblGrid>
              <a:tr h="360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Done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954996267"/>
                  </a:ext>
                </a:extLst>
              </a:tr>
              <a:tr h="463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Literature review, dataset loaders, and repository setup.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122244805"/>
                  </a:ext>
                </a:extLst>
              </a:tr>
              <a:tr h="463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Diagnostic engine implementation (Step Evaluator &amp; Hallucination Scorer).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851091709"/>
                  </a:ext>
                </a:extLst>
              </a:tr>
              <a:tr h="463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Phase 1 Benchmarking &amp; RAG implementation.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900487757"/>
                  </a:ext>
                </a:extLst>
              </a:tr>
              <a:tr h="463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Failure-targeted dataset generation &amp; FP16 Fine-Tuning.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420672805"/>
                  </a:ext>
                </a:extLst>
              </a:tr>
              <a:tr h="463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GGUF export, re-evaluation, and final results visualization.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2018253211"/>
                  </a:ext>
                </a:extLst>
              </a:tr>
            </a:tbl>
          </a:graphicData>
        </a:graphic>
      </p:graphicFrame>
      <p:sp>
        <p:nvSpPr>
          <p:cNvPr id="2" name="Google Shape;85;p8">
            <a:extLst>
              <a:ext uri="{FF2B5EF4-FFF2-40B4-BE49-F238E27FC236}">
                <a16:creationId xmlns:a16="http://schemas.microsoft.com/office/drawing/2014/main" id="{1EFDB18E-1870-85C3-795D-EDF60A135F8A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72;p7">
            <a:extLst>
              <a:ext uri="{FF2B5EF4-FFF2-40B4-BE49-F238E27FC236}">
                <a16:creationId xmlns:a16="http://schemas.microsoft.com/office/drawing/2014/main" id="{20875B03-4E52-607B-D155-D81DE6FDBBD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954368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65" name="Google Shape;265;p19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1210945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61948" y="335617"/>
            <a:ext cx="4379700" cy="30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7" name="Google Shape;267;p19"/>
          <p:cNvGrpSpPr/>
          <p:nvPr/>
        </p:nvGrpSpPr>
        <p:grpSpPr>
          <a:xfrm>
            <a:off x="-586" y="3327587"/>
            <a:ext cx="4608017" cy="129539"/>
            <a:chOff x="0" y="3326968"/>
            <a:chExt cx="4608017" cy="129539"/>
          </a:xfrm>
        </p:grpSpPr>
        <p:sp>
          <p:nvSpPr>
            <p:cNvPr id="268" name="Google Shape;268;p19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71" name="Google Shape;271;p19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4" name="Google Shape;274;p19"/>
          <p:cNvSpPr txBox="1">
            <a:spLocks noGrp="1"/>
          </p:cNvSpPr>
          <p:nvPr>
            <p:ph type="sldNum" idx="12"/>
          </p:nvPr>
        </p:nvSpPr>
        <p:spPr>
          <a:xfrm>
            <a:off x="4275148" y="3331250"/>
            <a:ext cx="3330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B5B857-BFE0-490A-8A7B-5E6E6347A397}"/>
              </a:ext>
            </a:extLst>
          </p:cNvPr>
          <p:cNvSpPr txBox="1"/>
          <p:nvPr/>
        </p:nvSpPr>
        <p:spPr>
          <a:xfrm>
            <a:off x="857639" y="2910256"/>
            <a:ext cx="2884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Accuracy Comparison per Category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037EFF-E144-39CC-C933-96004EC4C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99" y="340034"/>
            <a:ext cx="4373442" cy="2624065"/>
          </a:xfrm>
          <a:prstGeom prst="rect">
            <a:avLst/>
          </a:prstGeom>
        </p:spPr>
      </p:pic>
      <p:sp>
        <p:nvSpPr>
          <p:cNvPr id="5" name="Google Shape;85;p8">
            <a:extLst>
              <a:ext uri="{FF2B5EF4-FFF2-40B4-BE49-F238E27FC236}">
                <a16:creationId xmlns:a16="http://schemas.microsoft.com/office/drawing/2014/main" id="{BAA5B102-E61B-7977-0021-273BAAF99676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72;p7">
            <a:extLst>
              <a:ext uri="{FF2B5EF4-FFF2-40B4-BE49-F238E27FC236}">
                <a16:creationId xmlns:a16="http://schemas.microsoft.com/office/drawing/2014/main" id="{DD0138CE-AF6D-BDD6-B320-DAA06C950A24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</p:txBody>
      </p:sp>
      <p:sp>
        <p:nvSpPr>
          <p:cNvPr id="265" name="Google Shape;265;p19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1210945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61948" y="335617"/>
            <a:ext cx="4379700" cy="30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7" name="Google Shape;267;p19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268" name="Google Shape;268;p19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69" name="Google Shape;269;p19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0" name="Google Shape;270;p19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71" name="Google Shape;271;p19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4" name="Google Shape;274;p19"/>
          <p:cNvSpPr txBox="1">
            <a:spLocks noGrp="1"/>
          </p:cNvSpPr>
          <p:nvPr>
            <p:ph type="sldNum" idx="12"/>
          </p:nvPr>
        </p:nvSpPr>
        <p:spPr>
          <a:xfrm>
            <a:off x="4275148" y="3331250"/>
            <a:ext cx="3330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CD207F-74C8-4EFC-86C2-297810B895E5}"/>
              </a:ext>
            </a:extLst>
          </p:cNvPr>
          <p:cNvSpPr txBox="1"/>
          <p:nvPr/>
        </p:nvSpPr>
        <p:spPr>
          <a:xfrm>
            <a:off x="1209676" y="2848134"/>
            <a:ext cx="218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Step Failure per Category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09F87C-0C8B-5E26-64F6-4CE4DD6EC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386" y="427415"/>
            <a:ext cx="3986074" cy="2391644"/>
          </a:xfrm>
          <a:prstGeom prst="rect">
            <a:avLst/>
          </a:prstGeom>
        </p:spPr>
      </p:pic>
      <p:sp>
        <p:nvSpPr>
          <p:cNvPr id="5" name="Google Shape;85;p8">
            <a:extLst>
              <a:ext uri="{FF2B5EF4-FFF2-40B4-BE49-F238E27FC236}">
                <a16:creationId xmlns:a16="http://schemas.microsoft.com/office/drawing/2014/main" id="{E0843BDC-45ED-BB08-C84F-3F85B6C32489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72;p7">
            <a:extLst>
              <a:ext uri="{FF2B5EF4-FFF2-40B4-BE49-F238E27FC236}">
                <a16:creationId xmlns:a16="http://schemas.microsoft.com/office/drawing/2014/main" id="{1AAEC177-3343-2FA4-E21B-B5A3590CCA18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367921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0" name="Google Shape;250;p18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1210945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2" name="Google Shape;252;p18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253" name="Google Shape;253;p18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56" name="Google Shape;256;p18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9" name="Google Shape;259;p18"/>
          <p:cNvSpPr txBox="1">
            <a:spLocks noGrp="1"/>
          </p:cNvSpPr>
          <p:nvPr>
            <p:ph type="sldNum" idx="12"/>
          </p:nvPr>
        </p:nvSpPr>
        <p:spPr>
          <a:xfrm>
            <a:off x="4275148" y="3331250"/>
            <a:ext cx="3330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2A09D9-998F-1AF3-A87A-3E91E31838CD}"/>
              </a:ext>
            </a:extLst>
          </p:cNvPr>
          <p:cNvSpPr txBox="1"/>
          <p:nvPr/>
        </p:nvSpPr>
        <p:spPr>
          <a:xfrm>
            <a:off x="95300" y="628319"/>
            <a:ext cx="426339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research demonstrates that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Step-Level Evaluation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provides the critical visibility needed to transform AI from a 'Black Box' into a verifiable reasoning engine.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implementing a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Teacher-Student diagnostic loop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achieved a peak accuracy of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90.6%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on localized hardware while reducing reasoning failures by 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48%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validates that fine-tuned, small-parameter models can match the logical rigor of massive cloud-based APIs, enabling secure, private, and cost-efficient intelligent agents for high-stakes industrial deployment.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85;p8">
            <a:extLst>
              <a:ext uri="{FF2B5EF4-FFF2-40B4-BE49-F238E27FC236}">
                <a16:creationId xmlns:a16="http://schemas.microsoft.com/office/drawing/2014/main" id="{D2BEE323-C75D-CAA7-C7F7-187617217982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72;p7">
            <a:extLst>
              <a:ext uri="{FF2B5EF4-FFF2-40B4-BE49-F238E27FC236}">
                <a16:creationId xmlns:a16="http://schemas.microsoft.com/office/drawing/2014/main" id="{DB668B0C-B5A0-0D15-3A2F-026448A77CE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0" name="Google Shape;280;p20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2209750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2" name="Google Shape;282;p20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283" name="Google Shape;283;p20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86" name="Google Shape;286;p20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9" name="Google Shape;289;p20"/>
          <p:cNvSpPr txBox="1">
            <a:spLocks noGrp="1"/>
          </p:cNvSpPr>
          <p:nvPr>
            <p:ph type="sldNum" idx="12"/>
          </p:nvPr>
        </p:nvSpPr>
        <p:spPr>
          <a:xfrm>
            <a:off x="4275148" y="3331250"/>
            <a:ext cx="3330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A2015E-AD3E-4B3E-8578-1ABECC4AD925}"/>
              </a:ext>
            </a:extLst>
          </p:cNvPr>
          <p:cNvSpPr/>
          <p:nvPr/>
        </p:nvSpPr>
        <p:spPr>
          <a:xfrm>
            <a:off x="49995" y="396273"/>
            <a:ext cx="453505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sincerely express my gratitude to all those who supported me during my internship as an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Virtual Internship at AICTE -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EduSkills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Cohort-14.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Dr. Mrs. S. A.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Itkar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Head of the Computer Department, for her expert guidance.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Dr. Mrs. K. R. Joshi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Principal, for her leadership and vision.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D.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Phulpagar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Mentor, for his valuable guidance.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would also like to thank </a:t>
            </a:r>
            <a:r>
              <a:rPr lang="en-US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EduSkills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providing me with the opportunity to work in a professional environment and gain practical exposure in AI/ML.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experience significantly enhanced my technical skills and helped me bridge the gap between theoretical knowledge and real-world application.</a:t>
            </a:r>
          </a:p>
          <a:p>
            <a:pPr algn="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Yash Doke</a:t>
            </a:r>
            <a:endParaRPr lang="en-US" dirty="0"/>
          </a:p>
        </p:txBody>
      </p:sp>
      <p:sp>
        <p:nvSpPr>
          <p:cNvPr id="3" name="Google Shape;85;p8">
            <a:extLst>
              <a:ext uri="{FF2B5EF4-FFF2-40B4-BE49-F238E27FC236}">
                <a16:creationId xmlns:a16="http://schemas.microsoft.com/office/drawing/2014/main" id="{B76C537B-FEEB-3C11-80EC-AA7A2B6F35B4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72;p7">
            <a:extLst>
              <a:ext uri="{FF2B5EF4-FFF2-40B4-BE49-F238E27FC236}">
                <a16:creationId xmlns:a16="http://schemas.microsoft.com/office/drawing/2014/main" id="{D4106E40-81CE-FE24-32C8-20E2D1127AD5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0" name="Google Shape;280;p20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1210945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 </a:t>
            </a:r>
            <a:endParaRPr dirty="0"/>
          </a:p>
        </p:txBody>
      </p:sp>
      <p:grpSp>
        <p:nvGrpSpPr>
          <p:cNvPr id="282" name="Google Shape;282;p20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283" name="Google Shape;283;p20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86" name="Google Shape;286;p20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9" name="Google Shape;289;p20"/>
          <p:cNvSpPr txBox="1">
            <a:spLocks noGrp="1"/>
          </p:cNvSpPr>
          <p:nvPr>
            <p:ph type="sldNum" idx="12"/>
          </p:nvPr>
        </p:nvSpPr>
        <p:spPr>
          <a:xfrm>
            <a:off x="4275148" y="3331250"/>
            <a:ext cx="3330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E327C-8DBC-45D9-90F2-F38642F0A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125" y="391547"/>
            <a:ext cx="424648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Wei, J., et al. (2022). "Chain-of-Thought Prompting Elicits Reasoning in Large Language Models." 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arXiv:2201.11903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Cobbe, K., et al. (2021). "Training Verifiers to Solve Math Word Problems."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GSM8K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arXiv:2110.14168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Lightman, H., et al. (2023). "Let's Verify Step by Step."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/ ICLR 2024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arXiv:2305.20050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Hu, E.J., et al. (2021). 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Low-Rank Adaptation of Large Language Models."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ICLR 2022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arXiv:2106.09685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Dettmers, T., et al. (2023). "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QLoRA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Efficient Finetuning of Quantized Language Models." 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arXiv:2305.14314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Zheng, L., et al. (2023). "Judging LLM-as-a-Judge with MT-Bench and Chatbot Arena." 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2023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arXiv:2306.05685</a:t>
            </a:r>
          </a:p>
        </p:txBody>
      </p:sp>
      <p:sp>
        <p:nvSpPr>
          <p:cNvPr id="4" name="Google Shape;85;p8">
            <a:extLst>
              <a:ext uri="{FF2B5EF4-FFF2-40B4-BE49-F238E27FC236}">
                <a16:creationId xmlns:a16="http://schemas.microsoft.com/office/drawing/2014/main" id="{58D994A1-FB8A-28ED-3481-721E89A4C4E9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72;p7">
            <a:extLst>
              <a:ext uri="{FF2B5EF4-FFF2-40B4-BE49-F238E27FC236}">
                <a16:creationId xmlns:a16="http://schemas.microsoft.com/office/drawing/2014/main" id="{993384DC-9837-18D4-E1DA-28C3F440E52F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021004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"/>
          <p:cNvSpPr/>
          <p:nvPr/>
        </p:nvSpPr>
        <p:spPr>
          <a:xfrm>
            <a:off x="0" y="-12"/>
            <a:ext cx="4608195" cy="321945"/>
          </a:xfrm>
          <a:custGeom>
            <a:avLst/>
            <a:gdLst/>
            <a:ahLst/>
            <a:cxnLst/>
            <a:rect l="l" t="t" r="r" b="b"/>
            <a:pathLst>
              <a:path w="4608195" h="321945" extrusionOk="0">
                <a:moveTo>
                  <a:pt x="4608004" y="0"/>
                </a:moveTo>
                <a:lnTo>
                  <a:pt x="0" y="0"/>
                </a:lnTo>
                <a:lnTo>
                  <a:pt x="0" y="321500"/>
                </a:lnTo>
                <a:lnTo>
                  <a:pt x="4608004" y="3215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0" name="Google Shape;280;p20"/>
          <p:cNvSpPr txBox="1">
            <a:spLocks noGrp="1"/>
          </p:cNvSpPr>
          <p:nvPr>
            <p:ph type="title"/>
          </p:nvPr>
        </p:nvSpPr>
        <p:spPr>
          <a:xfrm>
            <a:off x="95300" y="45565"/>
            <a:ext cx="1210945" cy="23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 </a:t>
            </a:r>
            <a:endParaRPr dirty="0"/>
          </a:p>
        </p:txBody>
      </p:sp>
      <p:grpSp>
        <p:nvGrpSpPr>
          <p:cNvPr id="282" name="Google Shape;282;p20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283" name="Google Shape;283;p20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4" name="Google Shape;284;p20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5" name="Google Shape;285;p20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86" name="Google Shape;286;p20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9" name="Google Shape;289;p20"/>
          <p:cNvSpPr txBox="1">
            <a:spLocks noGrp="1"/>
          </p:cNvSpPr>
          <p:nvPr>
            <p:ph type="sldNum" idx="12"/>
          </p:nvPr>
        </p:nvSpPr>
        <p:spPr>
          <a:xfrm>
            <a:off x="4275148" y="3328291"/>
            <a:ext cx="333000" cy="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E327C-8DBC-45D9-90F2-F38642F0A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09" y="668546"/>
            <a:ext cx="4178424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indent="-228600" algn="just">
              <a:buFont typeface="+mj-lt"/>
              <a:buAutoNum type="arabicPeriod" startAt="7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Frohberg, J. &amp; Binder, F. (2022). "CRASS: A Novel Data Set and Benchmark for Causal Reasoning."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LREC 2022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arXiv:2112.11941</a:t>
            </a:r>
          </a:p>
          <a:p>
            <a:pPr marL="228600" indent="-228600" algn="just">
              <a:buFont typeface="+mj-lt"/>
              <a:buAutoNum type="arabicPeriod" startAt="7"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Kadavath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et al. (2022). "Language Models (Mostly) Know What They Know."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Anthropic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arXiv:2207.05221</a:t>
            </a:r>
          </a:p>
          <a:p>
            <a:pPr marL="228600" indent="-228600" algn="just">
              <a:buFont typeface="+mj-lt"/>
              <a:buAutoNum type="arabicPeriod" startAt="7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Huang, J., et al. (2023). "A Survey on Hallucination in Large Language Models." 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Computing Surveys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arXiv:2311.05232</a:t>
            </a:r>
          </a:p>
          <a:p>
            <a:pPr marL="228600" indent="-228600" algn="just">
              <a:buFont typeface="+mj-lt"/>
              <a:buAutoNum type="arabicPeriod" startAt="7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Lewis, P., et al. (2020). "Retrieval-Augmented Generation for Knowledge-Intensive NLP Tasks." 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arXiv:2005.11401</a:t>
            </a:r>
          </a:p>
        </p:txBody>
      </p:sp>
      <p:sp>
        <p:nvSpPr>
          <p:cNvPr id="3" name="Google Shape;85;p8">
            <a:extLst>
              <a:ext uri="{FF2B5EF4-FFF2-40B4-BE49-F238E27FC236}">
                <a16:creationId xmlns:a16="http://schemas.microsoft.com/office/drawing/2014/main" id="{84837B56-383B-68A1-BF69-3CC137B02050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72;p7">
            <a:extLst>
              <a:ext uri="{FF2B5EF4-FFF2-40B4-BE49-F238E27FC236}">
                <a16:creationId xmlns:a16="http://schemas.microsoft.com/office/drawing/2014/main" id="{0BC08CF6-1090-55E4-2C53-A589F0369102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929408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678" y="199857"/>
            <a:ext cx="4296693" cy="2840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5" name="Google Shape;295;p21"/>
          <p:cNvGrpSpPr/>
          <p:nvPr/>
        </p:nvGrpSpPr>
        <p:grpSpPr>
          <a:xfrm>
            <a:off x="0" y="3326968"/>
            <a:ext cx="4608017" cy="129539"/>
            <a:chOff x="0" y="3326968"/>
            <a:chExt cx="4608017" cy="129539"/>
          </a:xfrm>
        </p:grpSpPr>
        <p:sp>
          <p:nvSpPr>
            <p:cNvPr id="296" name="Google Shape;296;p21"/>
            <p:cNvSpPr/>
            <p:nvPr/>
          </p:nvSpPr>
          <p:spPr>
            <a:xfrm>
              <a:off x="0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5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1535976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1270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endParaRPr sz="1800" dirty="0"/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3071952" y="3326968"/>
              <a:ext cx="1536065" cy="129539"/>
            </a:xfrm>
            <a:custGeom>
              <a:avLst/>
              <a:gdLst/>
              <a:ahLst/>
              <a:cxnLst/>
              <a:rect l="l" t="t" r="r" b="b"/>
              <a:pathLst>
                <a:path w="1536064" h="129539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29032"/>
                  </a:lnTo>
                  <a:lnTo>
                    <a:pt x="1535976" y="129032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99" name="Google Shape;299;p21"/>
          <p:cNvSpPr txBox="1">
            <a:spLocks noGrp="1"/>
          </p:cNvSpPr>
          <p:nvPr>
            <p:ph type="ftr" idx="11"/>
          </p:nvPr>
        </p:nvSpPr>
        <p:spPr>
          <a:xfrm>
            <a:off x="421944" y="3331252"/>
            <a:ext cx="692150" cy="19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 of Comp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1" name="Google Shape;301;p21"/>
          <p:cNvSpPr txBox="1">
            <a:spLocks noGrp="1"/>
          </p:cNvSpPr>
          <p:nvPr>
            <p:ph type="sldNum" idx="12"/>
          </p:nvPr>
        </p:nvSpPr>
        <p:spPr>
          <a:xfrm>
            <a:off x="4275148" y="3331250"/>
            <a:ext cx="3033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18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72;p7">
            <a:extLst>
              <a:ext uri="{FF2B5EF4-FFF2-40B4-BE49-F238E27FC236}">
                <a16:creationId xmlns:a16="http://schemas.microsoft.com/office/drawing/2014/main" id="{D3733153-C980-4879-938A-FEC71BD9631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3442063" y="3331251"/>
            <a:ext cx="746093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01-April-2026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85;p8">
            <a:extLst>
              <a:ext uri="{FF2B5EF4-FFF2-40B4-BE49-F238E27FC236}">
                <a16:creationId xmlns:a16="http://schemas.microsoft.com/office/drawing/2014/main" id="{290EFCCE-19F3-8708-0272-4F573F09BA74}"/>
              </a:ext>
            </a:extLst>
          </p:cNvPr>
          <p:cNvSpPr txBox="1"/>
          <p:nvPr/>
        </p:nvSpPr>
        <p:spPr>
          <a:xfrm>
            <a:off x="1773059" y="3331250"/>
            <a:ext cx="1211100" cy="10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875" rIns="0" bIns="0" anchor="t" anchorCtr="0">
            <a:spAutoFit/>
          </a:bodyPr>
          <a:lstStyle/>
          <a:p>
            <a:pPr marL="12700" lvl="0"/>
            <a:r>
              <a:rPr lang="en-US" sz="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 Reasoning Pipeline</a:t>
            </a: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1370</Words>
  <Application>Microsoft Office PowerPoint</Application>
  <PresentationFormat>Custom</PresentationFormat>
  <Paragraphs>186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 MT</vt:lpstr>
      <vt:lpstr>Roboto</vt:lpstr>
      <vt:lpstr>Arial</vt:lpstr>
      <vt:lpstr>Times New Roman</vt:lpstr>
      <vt:lpstr>Office Theme</vt:lpstr>
      <vt:lpstr>LLM Reasoning Evaluation &amp; Targeted  Fine-Tuning Pipeline</vt:lpstr>
      <vt:lpstr>Outline</vt:lpstr>
      <vt:lpstr>Internship Completion Certificate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Results</vt:lpstr>
      <vt:lpstr>Conclusion</vt:lpstr>
      <vt:lpstr>Acknowledgement</vt:lpstr>
      <vt:lpstr>References </vt:lpstr>
      <vt:lpstr>References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and AI-Powered Attack Detection</dc:title>
  <dc:creator>Yash</dc:creator>
  <cp:lastModifiedBy>Yash Doke</cp:lastModifiedBy>
  <cp:revision>31</cp:revision>
  <dcterms:modified xsi:type="dcterms:W3CDTF">2026-03-31T17:54:46Z</dcterms:modified>
</cp:coreProperties>
</file>